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90bcef3867468e" /><Relationship Type="http://schemas.openxmlformats.org/officeDocument/2006/relationships/extended-properties" Target="/docProps/app.xml" Id="Rf33cb5872e364ebc" /><Relationship Type="http://schemas.openxmlformats.org/officeDocument/2006/relationships/officeDocument" Target="/ppt/presentation.xml" Id="Rffcce25eb5df47e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e189ed4de746ab"/>
  </p:sldMasterIdLst>
  <p:notesMasterIdLst>
    <p:notesMasterId xmlns:r="http://schemas.openxmlformats.org/officeDocument/2006/relationships" r:id="R768947fac71f4695"/>
  </p:notesMasterIdLst>
  <p:sldIdLst>
    <p:sldId xmlns:r="http://schemas.openxmlformats.org/officeDocument/2006/relationships" id="256" r:id="Ra0a00f5163fa4ba0"/>
    <p:sldId xmlns:r="http://schemas.openxmlformats.org/officeDocument/2006/relationships" id="257" r:id="R21f427c946af4a53"/>
    <p:sldId xmlns:r="http://schemas.openxmlformats.org/officeDocument/2006/relationships" id="258" r:id="R607fee14c9104d1a"/>
    <p:sldId xmlns:r="http://schemas.openxmlformats.org/officeDocument/2006/relationships" id="259" r:id="R2bbe1b8f286940c4"/>
    <p:sldId xmlns:r="http://schemas.openxmlformats.org/officeDocument/2006/relationships" id="260" r:id="R2c784080528a4ffe"/>
    <p:sldId xmlns:r="http://schemas.openxmlformats.org/officeDocument/2006/relationships" id="261" r:id="Rf44c946ca8cc4e5b"/>
    <p:sldId xmlns:r="http://schemas.openxmlformats.org/officeDocument/2006/relationships" id="262" r:id="R0b733d1d38544c0a"/>
    <p:sldId xmlns:r="http://schemas.openxmlformats.org/officeDocument/2006/relationships" id="263" r:id="R0c04567c2fbb4141"/>
    <p:sldId xmlns:r="http://schemas.openxmlformats.org/officeDocument/2006/relationships" id="264" r:id="Rd4270120aff0403b"/>
    <p:sldId xmlns:r="http://schemas.openxmlformats.org/officeDocument/2006/relationships" id="265" r:id="Rb6acc0dfe8e04a73"/>
    <p:sldId xmlns:r="http://schemas.openxmlformats.org/officeDocument/2006/relationships" id="266" r:id="Ra43a7d66b5674ce9"/>
    <p:sldId xmlns:r="http://schemas.openxmlformats.org/officeDocument/2006/relationships" id="267" r:id="Reea1caa070a84550"/>
    <p:sldId xmlns:r="http://schemas.openxmlformats.org/officeDocument/2006/relationships" id="268" r:id="R93f380a151ee444c"/>
    <p:sldId xmlns:r="http://schemas.openxmlformats.org/officeDocument/2006/relationships" id="269" r:id="Rc98d9cb02d0e4f3a"/>
    <p:sldId xmlns:r="http://schemas.openxmlformats.org/officeDocument/2006/relationships" id="270" r:id="R58627d9cf9774d92"/>
    <p:sldId xmlns:r="http://schemas.openxmlformats.org/officeDocument/2006/relationships" id="271" r:id="Rfa66af196ac64a1e"/>
    <p:sldId xmlns:r="http://schemas.openxmlformats.org/officeDocument/2006/relationships" id="272" r:id="Rb052d46d0cbd4c57"/>
    <p:sldId xmlns:r="http://schemas.openxmlformats.org/officeDocument/2006/relationships" id="273" r:id="R2201e305b6304d13"/>
    <p:sldId xmlns:r="http://schemas.openxmlformats.org/officeDocument/2006/relationships" id="274" r:id="R50af0ed93bde4fb1"/>
    <p:sldId xmlns:r="http://schemas.openxmlformats.org/officeDocument/2006/relationships" id="275" r:id="Rf0943bacbe3a424f"/>
    <p:sldId xmlns:r="http://schemas.openxmlformats.org/officeDocument/2006/relationships" id="276" r:id="R28c24ece4f6a4aec"/>
    <p:sldId xmlns:r="http://schemas.openxmlformats.org/officeDocument/2006/relationships" id="277" r:id="Rd7f6fbd0854e4c16"/>
    <p:sldId xmlns:r="http://schemas.openxmlformats.org/officeDocument/2006/relationships" id="278" r:id="Radda9826c581478f"/>
    <p:sldId xmlns:r="http://schemas.openxmlformats.org/officeDocument/2006/relationships" id="279" r:id="R56d0e9f26e714cd0"/>
    <p:sldId xmlns:r="http://schemas.openxmlformats.org/officeDocument/2006/relationships" id="280" r:id="R0e87dfefe6ff4de1"/>
    <p:sldId xmlns:r="http://schemas.openxmlformats.org/officeDocument/2006/relationships" id="281" r:id="R32247abf885a460f"/>
    <p:sldId xmlns:r="http://schemas.openxmlformats.org/officeDocument/2006/relationships" id="282" r:id="R0267fcbc639e44df"/>
    <p:sldId xmlns:r="http://schemas.openxmlformats.org/officeDocument/2006/relationships" id="283" r:id="R7361a10f34c44906"/>
    <p:sldId xmlns:r="http://schemas.openxmlformats.org/officeDocument/2006/relationships" id="284" r:id="R6565fb82e46e4b52"/>
    <p:sldId xmlns:r="http://schemas.openxmlformats.org/officeDocument/2006/relationships" id="285" r:id="R315401d50e5d44f9"/>
    <p:sldId xmlns:r="http://schemas.openxmlformats.org/officeDocument/2006/relationships" id="286" r:id="R1d3a6ddf6dba4e3a"/>
    <p:sldId xmlns:r="http://schemas.openxmlformats.org/officeDocument/2006/relationships" id="287" r:id="Rf4e714e2ecdf4d30"/>
    <p:sldId xmlns:r="http://schemas.openxmlformats.org/officeDocument/2006/relationships" id="288" r:id="R630c09111ff34c8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a1516bbebb845e6" /><Relationship Type="http://schemas.openxmlformats.org/officeDocument/2006/relationships/slideMaster" Target="/ppt/slideMasters/slideMaster1.xml" Id="Rbbe189ed4de746ab" /><Relationship Type="http://schemas.openxmlformats.org/officeDocument/2006/relationships/notesMaster" Target="/ppt/notesMasters/notesMaster1.xml" Id="R768947fac71f4695" /><Relationship Type="http://schemas.openxmlformats.org/officeDocument/2006/relationships/presProps" Target="/ppt/presProps.xml" Id="R8bd32a1df9d24957" /><Relationship Type="http://schemas.openxmlformats.org/officeDocument/2006/relationships/tableStyles" Target="/ppt/tableStyles.xml" Id="R68322d918a8e4a6c" /><Relationship Type="http://schemas.openxmlformats.org/officeDocument/2006/relationships/slide" Target="/ppt/slides/slide1.xml" Id="Ra0a00f5163fa4ba0" /><Relationship Type="http://schemas.openxmlformats.org/officeDocument/2006/relationships/slide" Target="/ppt/slides/slide2.xml" Id="R21f427c946af4a53" /><Relationship Type="http://schemas.openxmlformats.org/officeDocument/2006/relationships/slide" Target="/ppt/slides/slide3.xml" Id="R607fee14c9104d1a" /><Relationship Type="http://schemas.openxmlformats.org/officeDocument/2006/relationships/slide" Target="/ppt/slides/slide4.xml" Id="R2bbe1b8f286940c4" /><Relationship Type="http://schemas.openxmlformats.org/officeDocument/2006/relationships/slide" Target="/ppt/slides/slide5.xml" Id="R2c784080528a4ffe" /><Relationship Type="http://schemas.openxmlformats.org/officeDocument/2006/relationships/slide" Target="/ppt/slides/slide6.xml" Id="Rf44c946ca8cc4e5b" /><Relationship Type="http://schemas.openxmlformats.org/officeDocument/2006/relationships/slide" Target="/ppt/slides/slide7.xml" Id="R0b733d1d38544c0a" /><Relationship Type="http://schemas.openxmlformats.org/officeDocument/2006/relationships/slide" Target="/ppt/slides/slide8.xml" Id="R0c04567c2fbb4141" /><Relationship Type="http://schemas.openxmlformats.org/officeDocument/2006/relationships/slide" Target="/ppt/slides/slide9.xml" Id="Rd4270120aff0403b" /><Relationship Type="http://schemas.openxmlformats.org/officeDocument/2006/relationships/slide" Target="/ppt/slides/slide10.xml" Id="Rb6acc0dfe8e04a73" /><Relationship Type="http://schemas.openxmlformats.org/officeDocument/2006/relationships/slide" Target="/ppt/slides/slide11.xml" Id="Ra43a7d66b5674ce9" /><Relationship Type="http://schemas.openxmlformats.org/officeDocument/2006/relationships/slide" Target="/ppt/slides/slide12.xml" Id="Reea1caa070a84550" /><Relationship Type="http://schemas.openxmlformats.org/officeDocument/2006/relationships/slide" Target="/ppt/slides/slide13.xml" Id="R93f380a151ee444c" /><Relationship Type="http://schemas.openxmlformats.org/officeDocument/2006/relationships/slide" Target="/ppt/slides/slide14.xml" Id="Rc98d9cb02d0e4f3a" /><Relationship Type="http://schemas.openxmlformats.org/officeDocument/2006/relationships/slide" Target="/ppt/slides/slide15.xml" Id="R58627d9cf9774d92" /><Relationship Type="http://schemas.openxmlformats.org/officeDocument/2006/relationships/slide" Target="/ppt/slides/slide16.xml" Id="Rfa66af196ac64a1e" /><Relationship Type="http://schemas.openxmlformats.org/officeDocument/2006/relationships/slide" Target="/ppt/slides/slide17.xml" Id="Rb052d46d0cbd4c57" /><Relationship Type="http://schemas.openxmlformats.org/officeDocument/2006/relationships/slide" Target="/ppt/slides/slide18.xml" Id="R2201e305b6304d13" /><Relationship Type="http://schemas.openxmlformats.org/officeDocument/2006/relationships/slide" Target="/ppt/slides/slide19.xml" Id="R50af0ed93bde4fb1" /><Relationship Type="http://schemas.openxmlformats.org/officeDocument/2006/relationships/slide" Target="/ppt/slides/slide20.xml" Id="Rf0943bacbe3a424f" /><Relationship Type="http://schemas.openxmlformats.org/officeDocument/2006/relationships/slide" Target="/ppt/slides/slide21.xml" Id="R28c24ece4f6a4aec" /><Relationship Type="http://schemas.openxmlformats.org/officeDocument/2006/relationships/slide" Target="/ppt/slides/slide22.xml" Id="Rd7f6fbd0854e4c16" /><Relationship Type="http://schemas.openxmlformats.org/officeDocument/2006/relationships/slide" Target="/ppt/slides/slide23.xml" Id="Radda9826c581478f" /><Relationship Type="http://schemas.openxmlformats.org/officeDocument/2006/relationships/slide" Target="/ppt/slides/slide24.xml" Id="R56d0e9f26e714cd0" /><Relationship Type="http://schemas.openxmlformats.org/officeDocument/2006/relationships/slide" Target="/ppt/slides/slide25.xml" Id="R0e87dfefe6ff4de1" /><Relationship Type="http://schemas.openxmlformats.org/officeDocument/2006/relationships/slide" Target="/ppt/slides/slide26.xml" Id="R32247abf885a460f" /><Relationship Type="http://schemas.openxmlformats.org/officeDocument/2006/relationships/slide" Target="/ppt/slides/slide27.xml" Id="R0267fcbc639e44df" /><Relationship Type="http://schemas.openxmlformats.org/officeDocument/2006/relationships/slide" Target="/ppt/slides/slide28.xml" Id="R7361a10f34c44906" /><Relationship Type="http://schemas.openxmlformats.org/officeDocument/2006/relationships/slide" Target="/ppt/slides/slide29.xml" Id="R6565fb82e46e4b52" /><Relationship Type="http://schemas.openxmlformats.org/officeDocument/2006/relationships/slide" Target="/ppt/slides/slide30.xml" Id="R315401d50e5d44f9" /><Relationship Type="http://schemas.openxmlformats.org/officeDocument/2006/relationships/slide" Target="/ppt/slides/slide31.xml" Id="R1d3a6ddf6dba4e3a" /><Relationship Type="http://schemas.openxmlformats.org/officeDocument/2006/relationships/slide" Target="/ppt/slides/slide32.xml" Id="Rf4e714e2ecdf4d30" /><Relationship Type="http://schemas.openxmlformats.org/officeDocument/2006/relationships/slide" Target="/ppt/slides/slide33.xml" Id="R630c09111ff34c8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8be3695a5940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eda0eeb65f4e6f" /><Relationship Type="http://schemas.openxmlformats.org/officeDocument/2006/relationships/notesMaster" Target="/ppt/notesMasters/notesMaster1.xml" Id="R492b91cdcb5d43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a4e878274884ab1" /><Relationship Type="http://schemas.openxmlformats.org/officeDocument/2006/relationships/notesMaster" Target="/ppt/notesMasters/notesMaster1.xml" Id="Rd441938d0b2a4a9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8f4aa9a9efb4dce" /><Relationship Type="http://schemas.openxmlformats.org/officeDocument/2006/relationships/notesMaster" Target="/ppt/notesMasters/notesMaster1.xml" Id="R310ff2aea4ad4b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7d1afb5e6ea4648" /><Relationship Type="http://schemas.openxmlformats.org/officeDocument/2006/relationships/notesMaster" Target="/ppt/notesMasters/notesMaster1.xml" Id="R3ee427f0c79a4ac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747afd13c8490f" /><Relationship Type="http://schemas.openxmlformats.org/officeDocument/2006/relationships/notesMaster" Target="/ppt/notesMasters/notesMaster1.xml" Id="R124979db4a16407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d3a4a8210a442be" /><Relationship Type="http://schemas.openxmlformats.org/officeDocument/2006/relationships/notesMaster" Target="/ppt/notesMasters/notesMaster1.xml" Id="Refd5c6c7ea3d47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a0c18905ccf4b2b" /><Relationship Type="http://schemas.openxmlformats.org/officeDocument/2006/relationships/notesMaster" Target="/ppt/notesMasters/notesMaster1.xml" Id="R97523b2e5beb4b6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2a2febdb86c4987" /><Relationship Type="http://schemas.openxmlformats.org/officeDocument/2006/relationships/notesMaster" Target="/ppt/notesMasters/notesMaster1.xml" Id="Re7d56be866e74f3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a2c83173b446f5" /><Relationship Type="http://schemas.openxmlformats.org/officeDocument/2006/relationships/notesMaster" Target="/ppt/notesMasters/notesMaster1.xml" Id="R6e18e755e5db424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ffc383c78d3a4833" /><Relationship Type="http://schemas.openxmlformats.org/officeDocument/2006/relationships/notesMaster" Target="/ppt/notesMasters/notesMaster1.xml" Id="R9268acd9743547a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3b7effe170c428c" /><Relationship Type="http://schemas.openxmlformats.org/officeDocument/2006/relationships/notesMaster" Target="/ppt/notesMasters/notesMaster1.xml" Id="Ra2b43e8e5da140d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efd794846c74195" /><Relationship Type="http://schemas.openxmlformats.org/officeDocument/2006/relationships/notesMaster" Target="/ppt/notesMasters/notesMaster1.xml" Id="Ra8933253402c486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a1301b0f3e04162" /><Relationship Type="http://schemas.openxmlformats.org/officeDocument/2006/relationships/notesMaster" Target="/ppt/notesMasters/notesMaster1.xml" Id="Rc6ab8ebc673548c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a0ca57f0ea942a1" /><Relationship Type="http://schemas.openxmlformats.org/officeDocument/2006/relationships/notesMaster" Target="/ppt/notesMasters/notesMaster1.xml" Id="R81f74efd2989447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cbc8529fe04b5e" /><Relationship Type="http://schemas.openxmlformats.org/officeDocument/2006/relationships/notesMaster" Target="/ppt/notesMasters/notesMaster1.xml" Id="R70f86c1c327b4b2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d2a9f88d3b904d03" /><Relationship Type="http://schemas.openxmlformats.org/officeDocument/2006/relationships/notesMaster" Target="/ppt/notesMasters/notesMaster1.xml" Id="R2d59025ba3ad492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88495f9b724b4f0f" /><Relationship Type="http://schemas.openxmlformats.org/officeDocument/2006/relationships/notesMaster" Target="/ppt/notesMasters/notesMaster1.xml" Id="R818bb0b38900469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2fb26c06df364c51" /><Relationship Type="http://schemas.openxmlformats.org/officeDocument/2006/relationships/notesMaster" Target="/ppt/notesMasters/notesMaster1.xml" Id="R32695a4e946d41e7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ed3b8391c47a4c14" /><Relationship Type="http://schemas.openxmlformats.org/officeDocument/2006/relationships/notesMaster" Target="/ppt/notesMasters/notesMaster1.xml" Id="R7e1cfa4f12af427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99bc53cb10eb4e18" /><Relationship Type="http://schemas.openxmlformats.org/officeDocument/2006/relationships/notesMaster" Target="/ppt/notesMasters/notesMaster1.xml" Id="Rfe593ce8c03141e0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a21ffe1e7a4841" /><Relationship Type="http://schemas.openxmlformats.org/officeDocument/2006/relationships/notesMaster" Target="/ppt/notesMasters/notesMaster1.xml" Id="Rc5c5566f1f7f43b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7e1b7de5fdb42d9" /><Relationship Type="http://schemas.openxmlformats.org/officeDocument/2006/relationships/notesMaster" Target="/ppt/notesMasters/notesMaster1.xml" Id="Re28b8c91fd4c4fe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9e4a3c5ed7f4066" /><Relationship Type="http://schemas.openxmlformats.org/officeDocument/2006/relationships/notesMaster" Target="/ppt/notesMasters/notesMaster1.xml" Id="R2ade7982ea14417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40c3e6d15c4f41ce" /><Relationship Type="http://schemas.openxmlformats.org/officeDocument/2006/relationships/notesMaster" Target="/ppt/notesMasters/notesMaster1.xml" Id="R27da721aa7b14550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c78a2c11546048f9" /><Relationship Type="http://schemas.openxmlformats.org/officeDocument/2006/relationships/notesMaster" Target="/ppt/notesMasters/notesMaster1.xml" Id="Rb3e6a0dfa1ea496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1afc6121f2d848aa" /><Relationship Type="http://schemas.openxmlformats.org/officeDocument/2006/relationships/notesMaster" Target="/ppt/notesMasters/notesMaster1.xml" Id="Ra17f6b0fb8e347b2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059ce789d734f8a" /><Relationship Type="http://schemas.openxmlformats.org/officeDocument/2006/relationships/notesMaster" Target="/ppt/notesMasters/notesMaster1.xml" Id="R8ba1ac0e77a94caf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d2086c1f18644ba2" /><Relationship Type="http://schemas.openxmlformats.org/officeDocument/2006/relationships/notesMaster" Target="/ppt/notesMasters/notesMaster1.xml" Id="R84b2cd91eddd4b0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c3bae5d41174189" /><Relationship Type="http://schemas.openxmlformats.org/officeDocument/2006/relationships/notesMaster" Target="/ppt/notesMasters/notesMaster1.xml" Id="R9e826c2fa89b484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64cb4b1946f4edc" /><Relationship Type="http://schemas.openxmlformats.org/officeDocument/2006/relationships/notesMaster" Target="/ppt/notesMasters/notesMaster1.xml" Id="Ra619b9f0b5494183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8836af726a54439e" /><Relationship Type="http://schemas.openxmlformats.org/officeDocument/2006/relationships/notesMaster" Target="/ppt/notesMasters/notesMaster1.xml" Id="R664e09a25aa249c0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d580e997438b43b6" /><Relationship Type="http://schemas.openxmlformats.org/officeDocument/2006/relationships/notesMaster" Target="/ppt/notesMasters/notesMaster1.xml" Id="R6bb8496154ac4315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4eea02f8d9c41b0" /><Relationship Type="http://schemas.openxmlformats.org/officeDocument/2006/relationships/notesMaster" Target="/ppt/notesMasters/notesMaster1.xml" Id="Rd59a3a66172d4b4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Presentar el tema y a los integrantes; no demorar la portada.</a:t>
            </a:r>
          </a:p>
          <a:p xmlns:a="http://schemas.openxmlformats.org/drawingml/2006/main">
            <a:r>
              <a:t>Duración estimada: 0:15.</a:t>
            </a:r>
          </a:p>
          <a:p xmlns:a="http://schemas.openxmlformats.org/drawingml/2006/main">
            <a:r>
              <a:t>Pendiente administrativo: reemplazar “Grupo / comisión: a completar” antes de entregar.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Plantear la pregunta que organiza toda la exposición.</a:t>
            </a:r>
          </a:p>
          <a:p xmlns:a="http://schemas.openxmlformats.org/drawingml/2006/main">
            <a:r>
              <a:t>Duración estimada: 0:30.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Aislar la única diferencia entre modelos: promedio colectivo frente a copia individual.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Introducir brevemente la implementación.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Explicar que la simulación produce archivos estables y la visualización es un consumidor independiente.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- /Users/francoferrari/Desktop/ITBA/SimuTP2/plan_desarrollo_tp2/09_informe_presentacion_entrega.md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Recorrer el orden exacto del paso y remarcar que las posiciones usan v(t), no v(t+1).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- /Users/francoferrari/Desktop/ITBA/SimuTP2/plan_desarrollo_tp2/03_validaciones.md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Mostrar solo los controles que justifican vecinos, periodicidad y observables.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/Users/francoferrari/Desktop/ITBA/SimuTP2/plan_desarrollo_tp2/03_validaciones.md</a:t>
            </a:r>
          </a:p>
          <a:p xmlns:a="http://schemas.openxmlformats.org/drawingml/2006/main">
            <a:r>
              <a:t>- /Users/francoferrari/Desktop/ITBA/SimuTP2/plan_desarrollo_tp2/README.md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Pasar de la implementación al protocolo experimental.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Explicar el orden de promediado y la definición de barras; no leer la lista completa de η.</a:t>
            </a:r>
          </a:p>
          <a:p xmlns:a="http://schemas.openxmlformats.org/drawingml/2006/main">
            <a:r>
              <a:t>Duración estimada: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/Users/francoferrari/Desktop/ITBA/SimuTP2/plan_desarrollo_tp2/DECISIONES_PENDIENTES.md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Definir vₐ y S antes de mostrar curvas; señalar que un cluster grande no implica alineamiento global.</a:t>
            </a:r>
          </a:p>
          <a:p xmlns:a="http://schemas.openxmlformats.org/drawingml/2006/main">
            <a:r>
              <a:t>Duración estimada: 0:30.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/Users/francoferrari/Desktop/ITBA/SimuTP2/bibliografia/teoria_tp2_automatas_off_lattice.md</a:t>
            </a:r>
          </a:p>
          <a:p xmlns:a="http://schemas.openxmlformats.org/drawingml/2006/main">
            <a:r>
              <a:t>- /Users/francoferrari/Desktop/ITBA/SimuTP2/bibliografia/enunciado_tp2_guia_de_trabajo.md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Abrir la sección de resultados.</a:t>
            </a:r>
          </a:p>
          <a:p xmlns:a="http://schemas.openxmlformats.org/drawingml/2006/main">
            <a:r>
              <a:t>Duración estimada: 0:03.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Comparar dos estados con polarización media similar alcanzada con ruidos muy distintos.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>Pendiente: incorporar la animación cuando exista. Para el PDF final, conservar fotograma y agregar un link visible probado.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/Users/francoferrari/Desktop/ITBA/SimuTP2/figures/reference_snapshots_v1/README.md</a:t>
            </a:r>
          </a:p>
          <a:p xmlns:a="http://schemas.openxmlformats.org/drawingml/2006/main">
            <a:r>
              <a:t>- /Users/francoferrari/Desktop/ITBA/SimuTP2/figures/reference_snapshots_v1/rho2_model_comparison_snapshot.png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Observación de estas simulaciones, no una ley universal.</a:t>
            </a:r>
          </a:p>
          <a:p xmlns:a="http://schemas.openxmlformats.org/drawingml/2006/main">
            <a:r>
              <a:t>Duración estimada: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/Users/francoferrari/Desktop/ITBA/SimuTP2/figures/final_production_v1/vicsek_va_t_rho_2.png</a:t>
            </a:r>
          </a:p>
          <a:p xmlns:a="http://schemas.openxmlformats.org/drawingml/2006/main">
            <a:r>
              <a:t>- /Users/francoferrari/Desktop/ITBA/SimuTP2/figures/final_production_v1/vicsek_va_vs_eta.png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componente gigante aporta información espacial complementaria.</a:t>
            </a:r>
          </a:p>
          <a:p xmlns:a="http://schemas.openxmlformats.org/drawingml/2006/main">
            <a:r>
              <a:t>Duración estimada: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/Users/francoferrari/Desktop/ITBA/SimuTP2/figures/final_production_v1/vicsek_S_t_rho_2.png</a:t>
            </a:r>
          </a:p>
          <a:p xmlns:a="http://schemas.openxmlformats.org/drawingml/2006/main">
            <a:r>
              <a:t>- /Users/francoferrari/Desktop/ITBA/SimuTP2/figures/final_production_v1/vicsek_S_vs_eta.png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Mostrar que la relación entre alineamiento y conectividad cambia a lo largo del barrido.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/Users/francoferrari/Desktop/ITBA/SimuTP2/figures/final_production_v1/vicsek_va_vs_S.png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zona η ≤ 0.5 resuelve la caída observada.</a:t>
            </a:r>
          </a:p>
          <a:p xmlns:a="http://schemas.openxmlformats.org/drawingml/2006/main">
            <a:r>
              <a:t>Duración estimada: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/Users/francoferrari/Desktop/ITBA/SimuTP2/figures/final_production_v1/voter_va_t_rho_2.png</a:t>
            </a:r>
          </a:p>
          <a:p xmlns:a="http://schemas.openxmlformats.org/drawingml/2006/main">
            <a:r>
              <a:t>- /Users/francoferrari/Desktop/ITBA/SimuTP2/figures/final_production_v1/voter_va_vs_eta_zoom_0_0p5.png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La comparación conserva geometría, tiempos y estadística.</a:t>
            </a:r>
          </a:p>
          <a:p xmlns:a="http://schemas.openxmlformats.org/drawingml/2006/main">
            <a:r>
              <a:t>Duración estimada: 0:40.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/Users/francoferrari/Desktop/ITBA/SimuTP2/figures/final_production_v1/voter_S_t_rho_2.png</a:t>
            </a:r>
          </a:p>
          <a:p xmlns:a="http://schemas.openxmlformats.org/drawingml/2006/main">
            <a:r>
              <a:t>- /Users/francoferrari/Desktop/ITBA/SimuTP2/figures/final_production_v1/voter_S_vs_eta.png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Atribuir la diferencia observada a la regla local, porque los demás parámetros se mantuvieron iguales.</a:t>
            </a:r>
          </a:p>
          <a:p xmlns:a="http://schemas.openxmlformats.org/drawingml/2006/main">
            <a:r>
              <a:t>Duración estimada: 0:25.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/Users/francoferrari/Desktop/ITBA/SimuTP2/figures/final_production_v1/voter_va_vs_S.png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Explicar por qué se reportan densidad nominal, N entero y densidad efectiva.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/Users/francoferrari/Desktop/ITBA/SimuTP2/plan_desarrollo_tp2/DECISIONES_PENDIENTES.md</a:t>
            </a:r>
          </a:p>
          <a:p xmlns:a="http://schemas.openxmlformats.org/drawingml/2006/main">
            <a:r>
              <a:t>- /Users/francoferrari/Desktop/ITBA/SimuTP2/figures/final_production_v1/comparison_S_vs_eta_lowrho.png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Cerrar la evidencia comparativa con una formulación prudente y limitada a estos datos.</a:t>
            </a:r>
          </a:p>
          <a:p xmlns:a="http://schemas.openxmlformats.org/drawingml/2006/main">
            <a:r>
              <a:t>Duración estimada: 0:45.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/Users/francoferrari/Desktop/ITBA/SimuTP2/figures/final_production_v1/comparison_va_vs_eta.png</a:t>
            </a:r>
          </a:p>
          <a:p xmlns:a="http://schemas.openxmlformats.org/drawingml/2006/main">
            <a:r>
              <a:t>- /Users/francoferrari/Desktop/ITBA/SimuTP2/figures/final_production_v1/comparison_S_vs_eta_base.png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Resolver la pregunta inicial con tres conclusiones y declarar con honestidad qué falta para la entrega final.</a:t>
            </a:r>
          </a:p>
          <a:p xmlns:a="http://schemas.openxmlformats.org/drawingml/2006/main">
            <a:r>
              <a:t>Duración estimada: 0:35.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/Users/francoferrari/Desktop/ITBA/SimuTP2/plan_desarrollo_tp2/09_informe_presentacion_entrega.md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No exponer salvo preguntas; separa claramente el respaldo del relato principal.</a:t>
            </a:r>
          </a:p>
          <a:p xmlns:a="http://schemas.openxmlformats.org/drawingml/2006/main">
            <a:r>
              <a:t>Duración estimada: —.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/Users/francoferrari/Desktop/ITBA/SimuTP2/PLAN_PPT_TP2.md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Usar solo si preguntan por la comparación punto a punto entre modelos.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/Users/francoferrari/Desktop/ITBA/SimuTP2/figures/final_production_v1/comparison_va_vs_S.png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/Users/francoferrari/Desktop/ITBA/SimuTP2/figures/final_production_v1/vicsek_va_t_rho_4.png</a:t>
            </a:r>
          </a:p>
          <a:p xmlns:a="http://schemas.openxmlformats.org/drawingml/2006/main">
            <a:r>
              <a:t>- /Users/francoferrari/Desktop/ITBA/SimuTP2/figures/final_production_v1/vicsek_va_t_rho_8.png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/Users/francoferrari/Desktop/ITBA/SimuTP2/figures/final_production_v1/vicsek_S_t_rho_4.png</a:t>
            </a:r>
          </a:p>
          <a:p xmlns:a="http://schemas.openxmlformats.org/drawingml/2006/main">
            <a:r>
              <a:t>- /Users/francoferrari/Desktop/ITBA/SimuTP2/figures/final_production_v1/vicsek_S_t_rho_8.png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/Users/francoferrari/Desktop/ITBA/SimuTP2/figures/final_production_v1/voter_va_t_rho_4.png</a:t>
            </a:r>
          </a:p>
          <a:p xmlns:a="http://schemas.openxmlformats.org/drawingml/2006/main">
            <a:r>
              <a:t>- /Users/francoferrari/Desktop/ITBA/SimuTP2/figures/final_production_v1/voter_va_t_rho_8.png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Series restantes por densidad.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/Users/francoferrari/Desktop/ITBA/SimuTP2/figures/final_production_v1/voter_S_t_rho_4.png</a:t>
            </a:r>
          </a:p>
          <a:p xmlns:a="http://schemas.openxmlformats.org/drawingml/2006/main">
            <a:r>
              <a:t>- /Users/francoferrari/Desktop/ITBA/SimuTP2/figures/final_production_v1/voter_S_t_rho_8.png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Detalle individual de Vicsek en densidades bajas.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/Users/francoferrari/Desktop/ITBA/SimuTP2/figures/final_production_v1/vicsek_S_vs_eta_lowrho.png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Detalle individual del votante en densidades bajas.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/Users/francoferrari/Desktop/ITBA/SimuTP2/figures/final_production_v1/voter_S_vs_eta_lowrho.png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Mismo intervalo η ≤ 0.5 para ambos modelos.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/Users/francoferrari/Desktop/ITBA/SimuTP2/figures/final_production_v1/vicsek_S_vs_eta_zoom_0_0p5.png</a:t>
            </a:r>
          </a:p>
          <a:p xmlns:a="http://schemas.openxmlformats.org/drawingml/2006/main">
            <a:r>
              <a:t>- /Users/francoferrari/Desktop/ITBA/SimuTP2/figures/final_production_v1/voter_S_vs_eta_zoom_0_0p5.png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Detalle del tramo fino η ≤ 0.5 en la extensión de clusters.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/Users/francoferrari/Desktop/ITBA/SimuTP2/figures/final_production_v1/vicsek_S_vs_eta_lowrho_zoom_0_0p5.png</a:t>
            </a:r>
          </a:p>
          <a:p xmlns:a="http://schemas.openxmlformats.org/drawingml/2006/main">
            <a:r>
              <a:t>- /Users/francoferrari/Desktop/ITBA/SimuTP2/figures/final_production_v1/voter_S_vs_eta_lowrho_zoom_0_0p5.png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Responder preguntas de reproducibilidad y método estadístico.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/Users/francoferrari/Desktop/ITBA/SimuTP2/figures/final_production_v1/README.md</a:t>
            </a:r>
          </a:p>
          <a:p xmlns:a="http://schemas.openxmlformats.org/drawingml/2006/main">
            <a:r>
              <a:t>- /Users/francoferrari/Desktop/ITBA/SimuTP2/plan_desarrollo_tp2/DECISIONES_PENDIENTES.md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Idea central: Usar como respaldo metodológico; no afirmar cierre de la regresión física de consenso si preguntan por ella.</a:t>
            </a:r>
          </a:p>
          <a:p xmlns:a="http://schemas.openxmlformats.org/drawingml/2006/main">
            <a:r>
              <a:t>Duración estimada: respaldo.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/Users/francoferrari/Desktop/ITBA/SimuTP2/plan_desarrollo_tp2/03_validaciones.md</a:t>
            </a:r>
          </a:p>
          <a:p xmlns:a="http://schemas.openxmlformats.org/drawingml/2006/main">
            <a:r>
              <a:t>- /Users/francoferrari/Desktop/ITBA/SimuTP2/plan_desarrollo_tp2/README.md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c2a04d3cfa401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498b782de24a2a" /><Relationship Type="http://schemas.openxmlformats.org/officeDocument/2006/relationships/slideLayout" Target="/ppt/slideLayouts/slideLayout1.xml" Id="R6a7cb57196a446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a7cb57196a446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8a566390424343" /><Relationship Type="http://schemas.openxmlformats.org/officeDocument/2006/relationships/notesSlide" Target="/ppt/notesSlides/notesSlide1.xml" Id="Rf1e74b4978ba40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a41717de644a03" /><Relationship Type="http://schemas.openxmlformats.org/officeDocument/2006/relationships/notesSlide" Target="/ppt/notesSlides/notesSlide2.xml" Id="Rababcc02ce6b42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38311b44e04c1b" /><Relationship Type="http://schemas.openxmlformats.org/officeDocument/2006/relationships/notesSlide" Target="/ppt/notesSlides/notesSlide3.xml" Id="R0c86e8c94b374b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a18970831e41f8" /><Relationship Type="http://schemas.openxmlformats.org/officeDocument/2006/relationships/notesSlide" Target="/ppt/notesSlides/notesSlide4.xml" Id="R6e3981adaf484f8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702cccc7f4219" /><Relationship Type="http://schemas.openxmlformats.org/officeDocument/2006/relationships/notesSlide" Target="/ppt/notesSlides/notesSlide5.xml" Id="Rab03e4cb72754f9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495ff199e34a50" /><Relationship Type="http://schemas.openxmlformats.org/officeDocument/2006/relationships/notesSlide" Target="/ppt/notesSlides/notesSlide6.xml" Id="Rdad0925bf9f949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21ce0723644ea9" /><Relationship Type="http://schemas.openxmlformats.org/officeDocument/2006/relationships/notesSlide" Target="/ppt/notesSlides/notesSlide7.xml" Id="R35b8626e111d46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bffd2c6104d22" /><Relationship Type="http://schemas.openxmlformats.org/officeDocument/2006/relationships/notesSlide" Target="/ppt/notesSlides/notesSlide8.xml" Id="R56056cb2877a4ab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105fe464f74681" /><Relationship Type="http://schemas.openxmlformats.org/officeDocument/2006/relationships/notesSlide" Target="/ppt/notesSlides/notesSlide9.xml" Id="R0312eb99b7c34f2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90ed9121ff4692" /><Relationship Type="http://schemas.openxmlformats.org/officeDocument/2006/relationships/notesSlide" Target="/ppt/notesSlides/notesSlide10.xml" Id="R305f16ac853f4eb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d1c381472e471b" /><Relationship Type="http://schemas.openxmlformats.org/officeDocument/2006/relationships/notesSlide" Target="/ppt/notesSlides/notesSlide11.xml" Id="R38f4897c18a845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288071c9c4177" /><Relationship Type="http://schemas.openxmlformats.org/officeDocument/2006/relationships/image" Target="/ppt/media/image.png" Id="R8050820e696b4f01" /><Relationship Type="http://schemas.openxmlformats.org/officeDocument/2006/relationships/notesSlide" Target="/ppt/notesSlides/notesSlide12.xml" Id="R57a629a5dcf840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169868f81d4e2e" /><Relationship Type="http://schemas.openxmlformats.org/officeDocument/2006/relationships/image" Target="/ppt/media/image2.png" Id="R86da6967a9bc45ad" /><Relationship Type="http://schemas.openxmlformats.org/officeDocument/2006/relationships/image" Target="/ppt/media/image3.png" Id="R1d3b03cdfc3b4910" /><Relationship Type="http://schemas.openxmlformats.org/officeDocument/2006/relationships/notesSlide" Target="/ppt/notesSlides/notesSlide13.xml" Id="Rcde6d8270607408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ab87779f0c4ea7" /><Relationship Type="http://schemas.openxmlformats.org/officeDocument/2006/relationships/image" Target="/ppt/media/image4.png" Id="R6c6420157d40415b" /><Relationship Type="http://schemas.openxmlformats.org/officeDocument/2006/relationships/image" Target="/ppt/media/image5.png" Id="R64009c00c3a04440" /><Relationship Type="http://schemas.openxmlformats.org/officeDocument/2006/relationships/notesSlide" Target="/ppt/notesSlides/notesSlide14.xml" Id="R3e3e2056963a4da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4d1cc7b20748ac" /><Relationship Type="http://schemas.openxmlformats.org/officeDocument/2006/relationships/image" Target="/ppt/media/image6.png" Id="Re455e7d9dedf4993" /><Relationship Type="http://schemas.openxmlformats.org/officeDocument/2006/relationships/notesSlide" Target="/ppt/notesSlides/notesSlide15.xml" Id="R6c45c755d3ef499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3ebad336d649ed" /><Relationship Type="http://schemas.openxmlformats.org/officeDocument/2006/relationships/image" Target="/ppt/media/image7.png" Id="R402f865b7e0a433b" /><Relationship Type="http://schemas.openxmlformats.org/officeDocument/2006/relationships/image" Target="/ppt/media/image8.png" Id="R00697103b75f4e12" /><Relationship Type="http://schemas.openxmlformats.org/officeDocument/2006/relationships/notesSlide" Target="/ppt/notesSlides/notesSlide16.xml" Id="Ra3edcc17225e4df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28f70c13242ff" /><Relationship Type="http://schemas.openxmlformats.org/officeDocument/2006/relationships/image" Target="/ppt/media/image9.png" Id="Rdfd6b9516bbf4949" /><Relationship Type="http://schemas.openxmlformats.org/officeDocument/2006/relationships/image" Target="/ppt/media/image10.png" Id="R76d2bda4c9074713" /><Relationship Type="http://schemas.openxmlformats.org/officeDocument/2006/relationships/notesSlide" Target="/ppt/notesSlides/notesSlide17.xml" Id="R3efee010447c476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69f12b2db4f49" /><Relationship Type="http://schemas.openxmlformats.org/officeDocument/2006/relationships/image" Target="/ppt/media/image11.png" Id="R55480207060042df" /><Relationship Type="http://schemas.openxmlformats.org/officeDocument/2006/relationships/notesSlide" Target="/ppt/notesSlides/notesSlide18.xml" Id="Re55c57da0cd0426a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6378d81b847c3" /><Relationship Type="http://schemas.openxmlformats.org/officeDocument/2006/relationships/image" Target="/ppt/media/image12.png" Id="R27de41037538407b" /><Relationship Type="http://schemas.openxmlformats.org/officeDocument/2006/relationships/notesSlide" Target="/ppt/notesSlides/notesSlide19.xml" Id="Rd9a2e1a7936c46af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e7e3a517f4378" /><Relationship Type="http://schemas.openxmlformats.org/officeDocument/2006/relationships/image" Target="/ppt/media/image13.png" Id="R246762ac8caf4e38" /><Relationship Type="http://schemas.openxmlformats.org/officeDocument/2006/relationships/image" Target="/ppt/media/image14.png" Id="Rb7bfcb6badc84927" /><Relationship Type="http://schemas.openxmlformats.org/officeDocument/2006/relationships/notesSlide" Target="/ppt/notesSlides/notesSlide20.xml" Id="R1588a28bbafe422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ae5f11d3074500" /><Relationship Type="http://schemas.openxmlformats.org/officeDocument/2006/relationships/notesSlide" Target="/ppt/notesSlides/notesSlide21.xml" Id="R0300c34de56442a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db07077633478b" /><Relationship Type="http://schemas.openxmlformats.org/officeDocument/2006/relationships/notesSlide" Target="/ppt/notesSlides/notesSlide22.xml" Id="Re519154e6d9e4e7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dd384313040b3" /><Relationship Type="http://schemas.openxmlformats.org/officeDocument/2006/relationships/image" Target="/ppt/media/image15.png" Id="Rd04504d0158d4228" /><Relationship Type="http://schemas.openxmlformats.org/officeDocument/2006/relationships/notesSlide" Target="/ppt/notesSlides/notesSlide23.xml" Id="R3df69d82b9074bf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bd4b3f44b4483" /><Relationship Type="http://schemas.openxmlformats.org/officeDocument/2006/relationships/image" Target="/ppt/media/image16.png" Id="R748b7c79f9d14510" /><Relationship Type="http://schemas.openxmlformats.org/officeDocument/2006/relationships/image" Target="/ppt/media/image17.png" Id="R3a87344f5a294cbe" /><Relationship Type="http://schemas.openxmlformats.org/officeDocument/2006/relationships/notesSlide" Target="/ppt/notesSlides/notesSlide24.xml" Id="R83b42d3da4e947bb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4f42584aed45e9" /><Relationship Type="http://schemas.openxmlformats.org/officeDocument/2006/relationships/image" Target="/ppt/media/image18.png" Id="R574a93752af642e0" /><Relationship Type="http://schemas.openxmlformats.org/officeDocument/2006/relationships/image" Target="/ppt/media/image19.png" Id="R5912e6812fb7473d" /><Relationship Type="http://schemas.openxmlformats.org/officeDocument/2006/relationships/notesSlide" Target="/ppt/notesSlides/notesSlide25.xml" Id="Rfc340b9296a948a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ff2cee21d64c38" /><Relationship Type="http://schemas.openxmlformats.org/officeDocument/2006/relationships/image" Target="/ppt/media/image20.png" Id="R9f2f5ceaa9f44bc2" /><Relationship Type="http://schemas.openxmlformats.org/officeDocument/2006/relationships/image" Target="/ppt/media/image21.png" Id="Rf73e8381e33b48c6" /><Relationship Type="http://schemas.openxmlformats.org/officeDocument/2006/relationships/notesSlide" Target="/ppt/notesSlides/notesSlide26.xml" Id="R2605054503d3413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a4103782d644da" /><Relationship Type="http://schemas.openxmlformats.org/officeDocument/2006/relationships/image" Target="/ppt/media/image22.png" Id="R9755e2e1bfa74969" /><Relationship Type="http://schemas.openxmlformats.org/officeDocument/2006/relationships/image" Target="/ppt/media/image23.png" Id="Rb802c4364be4484a" /><Relationship Type="http://schemas.openxmlformats.org/officeDocument/2006/relationships/notesSlide" Target="/ppt/notesSlides/notesSlide27.xml" Id="Rc6568abaa07146f3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6cbab0f2f74363" /><Relationship Type="http://schemas.openxmlformats.org/officeDocument/2006/relationships/image" Target="/ppt/media/image24.png" Id="Readff8b24ad646a5" /><Relationship Type="http://schemas.openxmlformats.org/officeDocument/2006/relationships/notesSlide" Target="/ppt/notesSlides/notesSlide28.xml" Id="R7d16c2ead28140e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da1519dbf5470e" /><Relationship Type="http://schemas.openxmlformats.org/officeDocument/2006/relationships/image" Target="/ppt/media/image25.png" Id="Reca7c428e91748ab" /><Relationship Type="http://schemas.openxmlformats.org/officeDocument/2006/relationships/notesSlide" Target="/ppt/notesSlides/notesSlide29.xml" Id="R8506c4c25dd24ff9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93523a2d7b4adf" /><Relationship Type="http://schemas.openxmlformats.org/officeDocument/2006/relationships/image" Target="/ppt/media/image26.png" Id="Ree5c89ecf48f428a" /><Relationship Type="http://schemas.openxmlformats.org/officeDocument/2006/relationships/image" Target="/ppt/media/image27.png" Id="R6b152cd58a3d40d3" /><Relationship Type="http://schemas.openxmlformats.org/officeDocument/2006/relationships/notesSlide" Target="/ppt/notesSlides/notesSlide30.xml" Id="R4602ec93da724ae1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e84ba287d942f3" /><Relationship Type="http://schemas.openxmlformats.org/officeDocument/2006/relationships/image" Target="/ppt/media/image28.png" Id="R894f4df9099a467f" /><Relationship Type="http://schemas.openxmlformats.org/officeDocument/2006/relationships/image" Target="/ppt/media/image29.png" Id="Rdf85674954564860" /><Relationship Type="http://schemas.openxmlformats.org/officeDocument/2006/relationships/notesSlide" Target="/ppt/notesSlides/notesSlide31.xml" Id="Rec657dd7dc70437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23b7bb40df14289" /><Relationship Type="http://schemas.openxmlformats.org/officeDocument/2006/relationships/notesSlide" Target="/ppt/notesSlides/notesSlide32.xml" Id="R668ecf795cee446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ceb610ace448b8" /><Relationship Type="http://schemas.openxmlformats.org/officeDocument/2006/relationships/notesSlide" Target="/ppt/notesSlides/notesSlide33.xml" Id="R55eae6e308f74d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D5F20-4EF7-4B2A-A840-F85AA08E2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2B704F-EA7D-4E58-A69F-BC96E50EE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914400"/>
            <a:ext cx="2038350" cy="2038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725D7D-690A-4670-B7B9-DBCF69EC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571625"/>
            <a:ext cx="704850" cy="704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00941A-D9F6-434F-9FA7-22AE875FA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0480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879DED-F448-45B1-BE70-D87B2488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9175" y="33147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A1D289-2BDD-44C0-A3A0-3BE95B385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35814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C6E62-A25F-4AAC-B971-93FFD849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480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223DDC-F071-4B1A-8864-C230324D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0725" y="33147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B4BF7-2C55-4237-8817-FEA5CA1D0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4575" y="35814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F97029-5AAB-4578-9501-D895034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8425" y="3048000"/>
            <a:ext cx="400050" cy="13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11A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26E8E1-F766-40C0-9C3B-94729B0DE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3314700"/>
            <a:ext cx="400050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B77B01-FAF0-4678-80B0-FCB68E07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6858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B36B8"/>
                </a:solidFill>
              </a:defRPr>
            </a:pPr>
            <a:r>
              <a:rPr sz="1275" b="1">
                <a:solidFill>
                  <a:srgbClr val="3B36B8"/>
                </a:solidFill>
              </a:rPr>
              <a:t>SIMULACIÓN DE SISTEMAS · TP2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3BEFA-6E51-4D16-B18C-73E3634E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200150"/>
            <a:ext cx="75247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11A42"/>
                </a:solidFill>
              </a:defRPr>
            </a:pPr>
            <a:r>
              <a:rPr sz="3900" b="1">
                <a:solidFill>
                  <a:srgbClr val="111A42"/>
                </a:solidFill>
              </a:rPr>
              <a:t>Simulación de bandadas: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111A42"/>
                </a:solidFill>
              </a:defRPr>
            </a:pPr>
            <a:r>
              <a:rPr sz="3900" b="1">
                <a:solidFill>
                  <a:srgbClr val="111A42"/>
                </a:solidFill>
              </a:rPr>
              <a:t>modelo de Vicsek y modelo de votante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38CF2F-D58D-4F70-B4C2-8082D56B9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742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5F6578"/>
                </a:solidFill>
              </a:defRPr>
            </a:pPr>
            <a:r>
              <a:rPr sz="1875" b="0">
                <a:solidFill>
                  <a:srgbClr val="5F6578"/>
                </a:solidFill>
              </a:rPr>
              <a:t>72.25 — Simulación de Sistemas | Trabajo Práctico 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A85FA18-8CF7-427F-A48C-0774DB531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19500"/>
            <a:ext cx="3143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3B36B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E91A9C5-8ED1-4D48-BD1D-FF97B128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4335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61A2C"/>
                </a:solidFill>
              </a:defRPr>
            </a:pPr>
            <a:r>
              <a:rPr sz="1575" b="0">
                <a:solidFill>
                  <a:srgbClr val="161A2C"/>
                </a:solidFill>
              </a:rPr>
              <a:t>Franco Ferrari — Legajo 63094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61A2C"/>
                </a:solidFill>
              </a:defRPr>
            </a:pPr>
            <a:r>
              <a:rPr sz="1575" b="0">
                <a:solidFill>
                  <a:srgbClr val="161A2C"/>
                </a:solidFill>
              </a:rPr>
              <a:t>Mateo Pirola — Legajo 62810</a:t>
            </a:r>
          </a:p>
          <a:p xmlns:a="http://schemas.openxmlformats.org/drawingml/2006/main">
            <a:pPr algn="l">
              <a:buNone/>
              <a:defRPr sz="1575" b="0">
                <a:solidFill>
                  <a:srgbClr val="161A2C"/>
                </a:solidFill>
              </a:defRPr>
            </a:pPr>
            <a:r>
              <a:rPr sz="1575" b="0">
                <a:solidFill>
                  <a:srgbClr val="161A2C"/>
                </a:solidFill>
              </a:rPr>
              <a:t>Katia Menshikoff — Legajo 64396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CBAFCE-7E80-4DFB-BE2E-36558831E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5F6578"/>
                </a:solidFill>
              </a:defRPr>
            </a:pPr>
            <a:r>
              <a:rPr sz="1500" b="1">
                <a:solidFill>
                  <a:srgbClr val="5F6578"/>
                </a:solidFill>
              </a:rPr>
              <a:t>04/09/2026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DBB5B7-FFE2-4C08-BFCA-20093C971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483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3B36B8"/>
                </a:solidFill>
              </a:defRPr>
            </a:pPr>
            <a:r>
              <a:rPr sz="1200" b="1">
                <a:solidFill>
                  <a:srgbClr val="3B36B8"/>
                </a:solidFill>
              </a:rPr>
              <a:t>Grupo / comisión: a completar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489DA-1A2C-4D0E-8CFD-A4B4452E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84FEC4-7B72-4357-B78E-7602B784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754382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157F62-A4ED-4FB0-BED7-6FDD6825F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INTRODUCCIÓN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5AA01F-FA27-4DC4-A74A-0C523CD8A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Reglas locales pueden producir orden colectivo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63B09C-EB6F-4E7A-A241-7E7F23D25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007D99-06E4-4364-80F7-6D010B31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D763C2-FA38-48C0-ACBF-EC0AF29D8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F30027-6488-41AB-94BF-F021C0F78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049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161A2C"/>
                </a:solidFill>
              </a:defRPr>
            </a:pPr>
            <a:r>
              <a:rPr sz="1950" b="0">
                <a:solidFill>
                  <a:srgbClr val="161A2C"/>
                </a:solidFill>
              </a:rPr>
              <a:t>Partículas autopropulsadas ajustan su dirección usando información cercana. Sin líder central, la interacción repetida puede organizar el movimiento global.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F25F2E-CBF8-4C45-992A-9326D625D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1866900"/>
            <a:ext cx="7048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2EF5D-8340-4138-B58F-4F051FA4C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19275"/>
            <a:ext cx="7048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B3C090-758B-4637-B886-543D158E6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29800" y="2343150"/>
            <a:ext cx="704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85CFE8-7C58-4DD0-9E71-D6C98070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57525"/>
            <a:ext cx="7048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464D03-FFB5-411B-8C7D-5AED4F794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581400"/>
            <a:ext cx="704850" cy="190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958EA3-E01E-4E6B-A2A2-89149B5D9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962400"/>
            <a:ext cx="704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D85324-9B5A-4D9F-A7C8-A9B4F5551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01300" y="4105275"/>
            <a:ext cx="704850" cy="114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111A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AAD34-E316-4E4A-84EB-950CE3D49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905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213384-8A62-4BC9-AA57-14DB1266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857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CBA764-138B-45F2-8C39-1E822ECF7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812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7B23B1-B79B-494C-B4A6-8AAE9DE8D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9562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2C17EA5-DFFC-43F8-8885-3372137E2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19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E2FB4DA-4C49-4196-8175-38DE2C99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005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0A9EE5-AE4D-4006-A3E6-021A8960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4143375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C5E346-2D5A-45ED-97F0-2181880A5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76700"/>
            <a:ext cx="533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D4D72B7-3DA7-45DC-8E23-715E70B5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67200"/>
            <a:ext cx="4838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¿Cómo modifican el ruido, la densidad y la regla local el orden y la conectividad?</a:t>
            </a:r>
          </a:p>
        </p:txBody>
      </p:sp>
    </p:spTree>
    <p:extLst>
      <p:ext uri="{BB962C8B-B14F-4D97-AF65-F5344CB8AC3E}">
        <p14:creationId xmlns:p14="http://schemas.microsoft.com/office/powerpoint/2010/main" val="15653602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A51E47-8161-4CFC-88F4-9C7206FEA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INTRODUCCIÓN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4B28D-0C1A-4A5E-8607-F8BCF1613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Dos reglas de interacción sobre la misma geometría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77BA8F-0357-452B-99ED-65DCBF40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C2C8982-394C-4F0F-A9D6-45434472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C999F-D70C-481F-BC2E-4490E70D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93673C-1E8D-4CFF-9BA4-ABD209C07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860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8DC2A9-4A00-4BB8-BACB-98D3331BC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686050"/>
            <a:ext cx="809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8A9FE-7872-46A5-872F-2FB4072E2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5191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AB4715-9E1F-4F79-B38F-E088E6149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1562100"/>
            <a:ext cx="519112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ABE6A7-6529-4A15-855A-BC37D9A21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171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A42"/>
                </a:solidFill>
              </a:defRPr>
            </a:pPr>
            <a:r>
              <a:rPr sz="2250" b="1">
                <a:solidFill>
                  <a:srgbClr val="111A42"/>
                </a:solidFill>
              </a:rPr>
              <a:t>Vicsek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F2BAF0-F7F8-4C41-B4A5-6D17D0B6F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196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Promedia vectorialmente todas las direcciones vecinas, incluida la propia partícula.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EE653A-2B97-40FC-956B-A9A38A288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17907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111A42"/>
                </a:solidFill>
              </a:defRPr>
            </a:pPr>
            <a:r>
              <a:rPr sz="2250" b="1">
                <a:solidFill>
                  <a:srgbClr val="111A42"/>
                </a:solidFill>
              </a:rPr>
              <a:t>Votante ruidoso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FD1A5D-C473-47D8-B915-BCCD244FC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2381250"/>
            <a:ext cx="44577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Copia la dirección de otra partícula vecina elegida al azar. Si está aislada, conserva dirección y suma ruido.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82DD36-A430-4D80-B40A-398085AEA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4800600"/>
            <a:ext cx="712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B36B8"/>
                </a:solidFill>
              </a:defRPr>
            </a:pPr>
            <a:r>
              <a:rPr sz="2250" b="1">
                <a:solidFill>
                  <a:srgbClr val="3B36B8"/>
                </a:solidFill>
              </a:rPr>
              <a:t>ξ ~ U[−η/2, η/2]   ·   η en radianes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91565F-01B1-482E-B914-FA1F9F51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6735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5F6578"/>
                </a:solidFill>
              </a:defRPr>
            </a:pPr>
            <a:r>
              <a:rPr sz="1575" b="1">
                <a:solidFill>
                  <a:srgbClr val="5F6578"/>
                </a:solidFill>
              </a:rPr>
              <a:t>Misma caja, radio, velocidad y protocolo</a:t>
            </a:r>
          </a:p>
        </p:txBody>
      </p:sp>
    </p:spTree>
    <p:extLst>
      <p:ext uri="{BB962C8B-B14F-4D97-AF65-F5344CB8AC3E}">
        <p14:creationId xmlns:p14="http://schemas.microsoft.com/office/powerpoint/2010/main" val="184658638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302DE-521A-4581-B099-B8498219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53339B-26CF-4778-BCB3-80496E9F6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>SECCIÓN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271DAF-0AD9-41C0-8D4A-A6AB93429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Implementación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3BC800-20DB-4AFE-B298-25DC9E3A9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ABBBBD-9B0B-479F-8E5E-5F887655B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E1032EB-789A-4969-B955-641998B3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950313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A57260-2E64-496E-86D6-3D3AA815F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EB1346-4597-4001-A5E6-035ACD68A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Los resultados quedan desacoplados del visualizador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23DD45-8B95-4351-A1C7-7395D8438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564A0F-2775-446F-A49F-5216090DE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F7854-0B79-4C5B-9208-A36DEB7C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D09A48-D87D-4861-A805-04A8AD96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12420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545BF-1AFD-4DFE-A712-EEAACB2C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124200"/>
            <a:ext cx="6572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A80ECE-1102-4F54-82D5-1E749A5F3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33625"/>
            <a:ext cx="2476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E82877-E344-4E26-870A-EF23F6527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Motor C++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52519-E6C8-48A4-ADF1-FC912EC19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432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simulación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609BA1-B99A-4727-B4D3-852E7CF7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33625"/>
            <a:ext cx="361950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C7E3F3-3D5A-43AD-B83E-5897E589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609850"/>
            <a:ext cx="323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Salida de texto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B07101-7E01-4E03-BA3F-71BC3548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3143250"/>
            <a:ext cx="3276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observables.csv  ·  trajectory.csv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1AA315-B4C9-4AEB-AB3A-8633F4DC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333625"/>
            <a:ext cx="3333750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F9DF10-C980-402E-9E32-F8FD742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609850"/>
            <a:ext cx="295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Análisis y visualización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50FEC6-340A-4ED1-930E-B234B57C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2990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lectura independiente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D40B57-0F54-4A71-801B-18C0472D1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543425"/>
            <a:ext cx="79248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A3BBBC-A9F5-4473-B6C1-C8B7B0312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68630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El visualizador lee resultados ya producidos: no controla el avance de la simulación.</a:t>
            </a:r>
          </a:p>
        </p:txBody>
      </p:sp>
    </p:spTree>
    <p:extLst>
      <p:ext uri="{BB962C8B-B14F-4D97-AF65-F5344CB8AC3E}">
        <p14:creationId xmlns:p14="http://schemas.microsoft.com/office/powerpoint/2010/main" val="3293449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1A1C56-054E-4EA4-83F0-2A2CBEC1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23E5EB-191B-49F3-A53E-734DCA8D5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Un paso temporal correcto: sincrónico y backward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7069E6-3F17-441F-A9ED-D3D3778B9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63B4529-EEC8-456E-B5F8-BD5C3E8D2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8BD1E1-6E0B-49CB-BF9C-DBA567C76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56E4669-1CF6-45C1-BC7D-84CFCB4E2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6995BA-F571-44E4-A352-2C7357AB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1C51F-B99E-490A-99EC-A1A721A6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2660A4-E304-41B4-A05A-F976BC0D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019425"/>
            <a:ext cx="533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450E37-E298-44C6-9639-52A4A4213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341107-AD8B-4E3D-ADDE-DC6572EF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1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Vecinos con CIM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y periodicidad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87884E-6424-4866-9B68-2637F8A7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2651B3-C653-4C1D-9A9D-1BF630EE9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2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Orientaciones nuevas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desde el estado 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B3D035-ECFF-4BB1-A22C-79F6CF37D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BFF"/>
          </a:solidFill>
          <a:ln xmlns:a="http://schemas.openxmlformats.org/drawingml/2006/main" w="19050">
            <a:solidFill>
              <a:srgbClr val="3B36B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29C6BF-C237-4804-8021-885C1BAC0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3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Mover posiciones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con v(t)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AD9C03-3639-445D-9B10-9B43E70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0329E15-C211-425F-AC15-CBBC07D11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4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Replegar borde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periódico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BC32A1-D56B-4525-B755-0493898BE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43125"/>
            <a:ext cx="1657350" cy="1771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647E14-149A-42C3-A119-92BD7DBB9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324100"/>
            <a:ext cx="1428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5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Medir</a:t>
            </a:r>
          </a:p>
          <a:p xmlns:a="http://schemas.openxmlformats.org/drawingml/2006/main">
            <a:pPr algn="ctr">
              <a:buNone/>
              <a:defRPr sz="1575" b="0">
                <a:solidFill>
                  <a:srgbClr val="111A42"/>
                </a:solidFill>
              </a:defRPr>
            </a:pPr>
            <a:r>
              <a:rPr sz="1575" b="0">
                <a:solidFill>
                  <a:srgbClr val="111A42"/>
                </a:solidFill>
              </a:rPr>
              <a:t>vₐ y 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5911AC-ACEC-4B08-ABBB-9A741FDD5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81525"/>
            <a:ext cx="24288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B36B8"/>
                </a:solidFill>
              </a:defRPr>
            </a:pPr>
            <a:r>
              <a:rPr sz="1950" b="1">
                <a:solidFill>
                  <a:srgbClr val="3B36B8"/>
                </a:solidFill>
              </a:rPr>
              <a:t>SINCRÓNICO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D5EE3-F5E8-436A-9BCB-553E3097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8925" y="458152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3B36B8"/>
                </a:solidFill>
              </a:defRPr>
            </a:pPr>
            <a:r>
              <a:rPr sz="1950" b="1">
                <a:solidFill>
                  <a:srgbClr val="3B36B8"/>
                </a:solidFill>
              </a:rPr>
              <a:t>BACKWARD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7D6996-B799-4ED3-86EA-2D0B83BDD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2197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575" b="0">
                <a:solidFill>
                  <a:srgbClr val="5F6578"/>
                </a:solidFill>
              </a:defRPr>
            </a:pPr>
            <a:r>
              <a:rPr sz="1575" b="0">
                <a:solidFill>
                  <a:srgbClr val="5F6578"/>
                </a:solidFill>
              </a:rPr>
              <a:t>Ninguna orientación nueva contamina el cálculo de otra partícula.</a:t>
            </a:r>
          </a:p>
        </p:txBody>
      </p:sp>
    </p:spTree>
    <p:extLst>
      <p:ext uri="{BB962C8B-B14F-4D97-AF65-F5344CB8AC3E}">
        <p14:creationId xmlns:p14="http://schemas.microsoft.com/office/powerpoint/2010/main" val="131070435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9AB5E-B761-458B-BBCC-1CA7FD24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IMPLEMENTACIÓN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851F68-E5B3-4C76-B02A-4CAD6D23E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Las validaciones sostienen la lectura de los resultados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024C9A-DE03-4F61-8F17-8577D5694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6A4BE-D35B-4CDD-B366-F0ED6F45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AD03C0-D536-48C5-A84D-E8972B82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EF4D17-4379-468F-BB62-8F877FC7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B36B8"/>
                </a:solidFill>
              </a:defRPr>
            </a:pPr>
            <a:r>
              <a:rPr sz="2400" b="1">
                <a:solidFill>
                  <a:srgbClr val="3B36B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5135A0-AC78-4818-91C4-3591644A2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7430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42"/>
                </a:solidFill>
              </a:defRPr>
            </a:pPr>
            <a:r>
              <a:rPr sz="1875" b="1">
                <a:solidFill>
                  <a:srgbClr val="111A42"/>
                </a:solidFill>
              </a:rPr>
              <a:t>Vecindad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0529E8-1872-4E44-9AE4-38B72908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7430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CIM coincide con fuerza bruta.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034429E-7AF2-4CC9-9658-067D9BAAB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4098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86C11B-9E3D-4015-AAD6-F8457A1F9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B36B8"/>
                </a:solidFill>
              </a:defRPr>
            </a:pPr>
            <a:r>
              <a:rPr sz="2400" b="1">
                <a:solidFill>
                  <a:srgbClr val="3B36B8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855BCB-8187-4E6D-930D-1A7C9F955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0003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42"/>
                </a:solidFill>
              </a:defRPr>
            </a:pPr>
            <a:r>
              <a:rPr sz="1875" b="1">
                <a:solidFill>
                  <a:srgbClr val="111A42"/>
                </a:solidFill>
              </a:rPr>
              <a:t>Estadística inicial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1585F7-6856-44B6-9365-7A4D35392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Otros vecinos ≈ ρ·π·r_c².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4FA0-BE4B-4092-B2E2-17115350C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6671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5D0BBC-9154-4C59-A53F-05A52C60D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57675"/>
            <a:ext cx="7048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3B36B8"/>
                </a:solidFill>
              </a:defRPr>
            </a:pPr>
            <a:r>
              <a:rPr sz="2400" b="1">
                <a:solidFill>
                  <a:srgbClr val="3B36B8"/>
                </a:solidFill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235E85-A517-47B9-BAEB-4C6DF745E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257675"/>
            <a:ext cx="323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11A42"/>
                </a:solidFill>
              </a:defRPr>
            </a:pPr>
            <a:r>
              <a:rPr sz="1875" b="1">
                <a:solidFill>
                  <a:srgbClr val="111A42"/>
                </a:solidFill>
              </a:rPr>
              <a:t>Observables y clusters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D97132-ED6F-4BA7-84EF-593E85BE5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257675"/>
            <a:ext cx="619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161A2C"/>
                </a:solidFill>
              </a:defRPr>
            </a:pPr>
            <a:r>
              <a:rPr sz="1800" b="0">
                <a:solidFill>
                  <a:srgbClr val="161A2C"/>
                </a:solidFill>
              </a:rPr>
              <a:t>vₐ y S respetan límites, periodicidad y conectividad.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8DB3DE-E136-4E25-A986-9D4C54813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924425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452AF-1A5F-4C8B-912E-C61B0392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56007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167D69"/>
                </a:solidFill>
              </a:defRPr>
            </a:pPr>
            <a:r>
              <a:rPr sz="1350" b="1">
                <a:solidFill>
                  <a:srgbClr val="167D69"/>
                </a:solidFill>
              </a:rPr>
              <a:t>11/11 pruebas CTest aprobadas</a:t>
            </a:r>
          </a:p>
        </p:txBody>
      </p:sp>
    </p:spTree>
    <p:extLst>
      <p:ext uri="{BB962C8B-B14F-4D97-AF65-F5344CB8AC3E}">
        <p14:creationId xmlns:p14="http://schemas.microsoft.com/office/powerpoint/2010/main" val="104596295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821793F-FBF7-4637-9117-7A27C0154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766489-CF82-4E7E-AC45-6E57FDC70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>SECCIÓN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92E8D-FB0A-45FC-80F5-79F39160F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Simulaciones y medición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33B8A6-2927-4808-90FD-C34022A9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BC080A-918A-418B-9E1E-1CD4D8F28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29A801-3737-4A4E-8585-85D36C0C6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2985642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F8DA4E-C7D2-419F-A634-DD6DC1906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SIMULACIONES Y 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B205DF-E447-4FCF-9AA8-A20567626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Un protocolo común permite comparar reglas y densidades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9CDECC-7ECF-478F-B880-5A86EFA6C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7AB7CF-2641-4219-B2DC-F28CDA19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FD911-74ED-4624-A492-FB784ADA6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931474-FD4E-4A99-B633-30BD69BEF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24000"/>
            <a:ext cx="10934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175" b="1">
                <a:solidFill>
                  <a:srgbClr val="111A42"/>
                </a:solidFill>
              </a:defRPr>
            </a:pPr>
            <a:r>
              <a:rPr sz="2175" b="1">
                <a:solidFill>
                  <a:srgbClr val="111A42"/>
                </a:solidFill>
              </a:rPr>
              <a:t>L = 10   ·   r_c = 1   ·   v = 0.03   ·   Δt =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BE394A-1B0D-4C4E-8AD6-895AC336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190750"/>
            <a:ext cx="8877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B36B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4A4CB2-7A7B-4AEF-8BF3-5FD27616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Sistema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D9414F-AA8A-4C19-B8FE-7067CBE96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ρ = 2, 4, 8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N = 200, 400, 800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DC106C-D959-4D3E-A97F-01137243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Ruido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7DBA71-8075-4AEA-8C91-D92F31AB1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14 valores de η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0 a 6 rad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AB0868-EFEF-4EEF-94F8-9F8A4E7F8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Muestreo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77624-070A-4F93-85D3-075BF50EC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R = 20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3000 pasos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9C8225-0C25-44FD-9AEF-802E247C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6479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3B36B8"/>
                </a:solidFill>
              </a:defRPr>
            </a:pPr>
            <a:r>
              <a:rPr sz="1800" b="1">
                <a:solidFill>
                  <a:srgbClr val="3B36B8"/>
                </a:solidFill>
              </a:rPr>
              <a:t>Estacionario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FE8FB1-2048-46F5-8870-E1F47FD8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162300"/>
            <a:ext cx="24193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t_eq = 1500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desvío estándar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9549CC-54AC-468B-9AAE-C62C817D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76775"/>
            <a:ext cx="9334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02762-F483-41B6-9BCA-003D2F64C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48225"/>
            <a:ext cx="88392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11A42"/>
                </a:solidFill>
              </a:defRPr>
            </a:pPr>
            <a:r>
              <a:rPr sz="1650" b="1">
                <a:solidFill>
                  <a:srgbClr val="111A42"/>
                </a:solidFill>
              </a:rPr>
              <a:t>Primero: promedio temporal estacionario por realización    →    Después: promedio entre realizaciones</a:t>
            </a:r>
          </a:p>
        </p:txBody>
      </p:sp>
    </p:spTree>
    <p:extLst>
      <p:ext uri="{BB962C8B-B14F-4D97-AF65-F5344CB8AC3E}">
        <p14:creationId xmlns:p14="http://schemas.microsoft.com/office/powerpoint/2010/main" val="1365287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13AEF7-FF1C-4C6B-B747-B62E7226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SIMULACIONES Y MEDICIÓN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02D32B-96C8-435C-985F-B4B83A88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Medimos orden y conectividad por separado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AF41DA-EFE0-40E6-834A-4277AD469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570A9F-309E-4E16-B490-675ACE6B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24CC3D-5B92-436F-BEFD-260EB4DE9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A70B97-6D17-45E0-B26A-141B54182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192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6494B3-0808-4287-A66E-0C376B625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619250"/>
            <a:ext cx="5143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AB6CB9-4318-43EF-AE39-073642CD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Polarización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1766F8-532A-44FD-AE93-3CE68ABE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431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B36B8"/>
                </a:solidFill>
              </a:defRPr>
            </a:pPr>
            <a:r>
              <a:rPr sz="2250" b="1">
                <a:solidFill>
                  <a:srgbClr val="3B36B8"/>
                </a:solidFill>
              </a:rPr>
              <a:t>vₐ(t) = (1 / Nv) · |Σᵢ vᵢ(t)|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8F60A-4C91-4FEA-9FA0-2F974AD16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371850"/>
            <a:ext cx="4210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Magnitud de la velocidad media normalizada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0 ≤ vₐ ≤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3CA67-7520-4ECC-A235-CB34F0C1E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8859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11A42"/>
                </a:solidFill>
              </a:defRPr>
            </a:pPr>
            <a:r>
              <a:rPr sz="2100" b="1">
                <a:solidFill>
                  <a:srgbClr val="111A42"/>
                </a:solidFill>
              </a:rPr>
              <a:t>Componente gigante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94E6D-E063-49A6-8D34-54106421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543175"/>
            <a:ext cx="428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3B36B8"/>
                </a:solidFill>
              </a:defRPr>
            </a:pPr>
            <a:r>
              <a:rPr sz="2250" b="1">
                <a:solidFill>
                  <a:srgbClr val="3B36B8"/>
                </a:solidFill>
              </a:rPr>
              <a:t>S(t) = n_max(t) / 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8F200F-0613-440F-901E-927053A78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371850"/>
            <a:ext cx="42100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Clusters: componentes conexas geométricas</a:t>
            </a:r>
          </a:p>
          <a:p xmlns:a="http://schemas.openxmlformats.org/drawingml/2006/main">
            <a:pPr algn="ctr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con borde periódico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297DF2-69A3-40CD-B540-BBDE54221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76875"/>
            <a:ext cx="876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5F6578"/>
                </a:solidFill>
              </a:defRPr>
            </a:pPr>
            <a:r>
              <a:rPr sz="1650" b="1">
                <a:solidFill>
                  <a:srgbClr val="5F6578"/>
                </a:solidFill>
              </a:rPr>
              <a:t>Medir ambos evita confundir alineamiento global con proximidad espacial.</a:t>
            </a:r>
          </a:p>
        </p:txBody>
      </p:sp>
    </p:spTree>
    <p:extLst>
      <p:ext uri="{BB962C8B-B14F-4D97-AF65-F5344CB8AC3E}">
        <p14:creationId xmlns:p14="http://schemas.microsoft.com/office/powerpoint/2010/main" val="1962380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EA3265-823F-4B4C-B50D-84EB9F94A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D44683-CCE2-436A-A252-585D0C99A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>SECCIÓN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7DCB08-EF11-45D0-89D2-29B56303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Resultados: ruido, orden y conectividad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72BA4D-4872-43DB-921A-E5A281CDD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FFBD7-EB92-4CEE-8F17-ABFDE3F98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FC54A-8299-43AF-B073-C4413E05A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14924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AAA329-6953-42D6-B904-BEB22B3A6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053DE8-BDD3-4F55-9289-6893F12EA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Misma polarización, distintas reglas de interacción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1D7097-E3BD-4C01-BD89-D3C99D2B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F33854-300C-4B67-8F37-BE274E3B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462ED9-738D-408C-8339-6BD5330A3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CB9E58-FFB4-47AA-9295-88DE1D892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47800"/>
            <a:ext cx="8096250" cy="453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50820e696b4f01"/>
          <a:stretch xmlns:a="http://schemas.openxmlformats.org/drawingml/2006/main"/>
        </p:blipFill>
        <p:spPr>
          <a:xfrm xmlns:a="http://schemas.openxmlformats.org/drawingml/2006/main">
            <a:off x="628650" y="1834858"/>
            <a:ext cx="8039100" cy="3759783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E4AE76-A317-4C1E-A82B-F09C40A0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76375"/>
            <a:ext cx="257175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92D62-D7A8-4595-BF6A-2E3486BBC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24025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82280B-12B1-4F6E-98A6-E82EF7D7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914525"/>
            <a:ext cx="2152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vₐ ≈ 0.515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E443E5-05D1-4F53-A71C-72622FAF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05075"/>
            <a:ext cx="2152650" cy="3219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Izquierda · Vicsek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η=3 · vₐ(t)=0.514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Derecha · Votante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η=0.4 · vₐ(t)=0.515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En común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ρ=2 · N=200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t=2000 · v=0.03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Flecha: dirección (×15)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Color: ángulo</a:t>
            </a:r>
          </a:p>
        </p:txBody>
      </p:sp>
    </p:spTree>
    <p:extLst>
      <p:ext uri="{BB962C8B-B14F-4D97-AF65-F5344CB8AC3E}">
        <p14:creationId xmlns:p14="http://schemas.microsoft.com/office/powerpoint/2010/main" val="103507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9F4D7-D9E8-4DDE-886C-DE67AD56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VICSEK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8505B6-2D42-4B23-94E0-C85595449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más densidad sostiene el orden a mayor ruido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C880A7-66E3-4431-8F0E-FFE1864E5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5421F0-43BA-4AA0-99E6-6A495733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E66E30-0A2A-4508-8D4A-BC8C807B9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D1024C-129D-4CA9-A43E-FAE4B9530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Observación de estas simulaciones, no una ley universal.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31765E-68F4-47B1-A260-1A09DCC8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da6967a9bc45ad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316ABA-BCA3-4683-B801-A3BE717EA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d3b03cdfc3b4910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FED2D6-A1C0-4B45-9520-41811D3DF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158792158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A6FCBC-6D5D-40E7-AE4D-2BA00770C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VICSEK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F301B3-CB97-485E-B769-FA13711C8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conectividad y alineamiento evolucionan distinto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4CF6CE-6240-4EE0-9039-94FABC13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C474AFA-4667-4F4A-A2A1-05ED03CBD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F314C1-CBEB-4910-91AB-E067AD210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75FF57-5736-4336-A83F-1840B34B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La componente gigante aporta información espacial complementaria.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EC9153-10B0-4B33-8C64-29E992AA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6420157d40415b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6DD612-6F14-4D04-AC7F-14CC5E4D8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009c00c3a04440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A4255F-7A8A-4339-821E-0626F6D0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205987181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AD0B32-1AE2-48ED-87AD-1E8DB4BE9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VICSEK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04E1BC-1033-4861-8ECC-3E6DC547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orden frente a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CB1E15-688A-42B5-B177-2FDE36B4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131A9-9734-4111-919E-AD76E981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A4C5BB-4039-4ACA-A726-8A5297C1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E5B384-9162-4577-801C-CE482081C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76375"/>
            <a:ext cx="79057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55e7d9dedf4993"/>
          <a:stretch xmlns:a="http://schemas.openxmlformats.org/drawingml/2006/main"/>
        </p:blipFill>
        <p:spPr>
          <a:xfrm xmlns:a="http://schemas.openxmlformats.org/drawingml/2006/main">
            <a:off x="1430867" y="1504950"/>
            <a:ext cx="6244167" cy="4495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13BBC-A19D-4DDC-BA47-3B939EB84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27622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E32667-1906-4FD5-B19D-0B879F511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5FF218-F995-4C04-AA62-D84B767CF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Cómo leerlo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1F06E0-8D0A-4450-8F54-C5F47CB58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3431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Cada punto: un valor de 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x: ⟨S⟩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y: ⟨vₐ⟩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= 2, 4, 8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Barras: desvío estándar</a:t>
            </a:r>
          </a:p>
        </p:txBody>
      </p:sp>
    </p:spTree>
    <p:extLst>
      <p:ext uri="{BB962C8B-B14F-4D97-AF65-F5344CB8AC3E}">
        <p14:creationId xmlns:p14="http://schemas.microsoft.com/office/powerpoint/2010/main" val="4262877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DCF21E-9C83-4AC5-9E52-40022B3E9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VOTANTE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9A5CAF-F334-423C-8BDC-C35EDC51A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la caída observada ocurre a ruido bajo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877DE7-2FBC-403B-9837-70B92EABF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CCB23-A920-4903-AA98-B832E0C8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6F17D8-CE54-46E4-85E9-E47254FA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560A69-C95E-4539-9FA5-376EDCB73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La zona η ≤ 0.5 resuelve la caída observada.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AD9B82-F077-4092-BD5D-3510CF4AD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2f865b7e0a433b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2EF9F6-A5EE-49D5-9C68-2281FE52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697103b75f4e12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A15DEC-20A4-45F4-972F-6013BD60D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9907985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36C0101-1B3A-44C0-B5A3-38B2D9F6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VOTANTE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476FDD-006B-49F3-8A30-A87B3309E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33F827-9C2D-45CA-AD8E-A5D29C135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CE43C5-80E2-4514-8F6C-0DC35893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C4081-A60B-4E9C-9EF8-73D968BC0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01538-B879-4CF8-ADEF-AB66CE2A8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La comparación conserva geometría, tiempos y estadística.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692F03-BEEC-4F88-ACAF-DD1F682A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6b9516bbf4949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308B3E-70A3-483A-8E8F-7D79190B9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d2bda4c9074713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1D6380-3D2D-46D7-8375-62F3DA7C8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Línea vertical: t_eq = 1500  ·  Bandas/barras: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38348386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FD842-497A-4246-A5F9-46CF1E06A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 · VOTANTE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AD3AA3-1E0B-44AF-87CC-8C19D81AA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cambia la relación entre orden y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F33711-F4C5-4752-A48A-1BD7452E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8D2C90-F3A5-4A4C-A5D3-84177A670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C9210E-8140-484C-BCD3-EBC7F752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C128CD-9B39-43D0-87EA-FD66FD25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76375"/>
            <a:ext cx="7905750" cy="455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480207060042df"/>
          <a:stretch xmlns:a="http://schemas.openxmlformats.org/drawingml/2006/main"/>
        </p:blipFill>
        <p:spPr>
          <a:xfrm xmlns:a="http://schemas.openxmlformats.org/drawingml/2006/main">
            <a:off x="1430867" y="1504950"/>
            <a:ext cx="6244167" cy="44958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60375E-3C4B-4ABC-80D4-604F68DF8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504950"/>
            <a:ext cx="2762250" cy="449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566B07-945A-4B40-BBB1-0A42CAD5E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7526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2B8E66-C888-43A5-A6BD-FF459BE1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Lectura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6CCC0A-C7A9-4726-B607-F1336425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533650"/>
            <a:ext cx="23431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Cada punto: un valor de η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x: ⟨S⟩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Eje y: ⟨vₐ⟩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Misma geometría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Mismo protocolo</a:t>
            </a:r>
          </a:p>
        </p:txBody>
      </p:sp>
    </p:spTree>
    <p:extLst>
      <p:ext uri="{BB962C8B-B14F-4D97-AF65-F5344CB8AC3E}">
        <p14:creationId xmlns:p14="http://schemas.microsoft.com/office/powerpoint/2010/main" val="119442530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93B5F97-D9BB-45A8-B428-3DC4D5AB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5AE01-9ECF-4F02-A23C-C37171F5D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Fragmentación a baja densidad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BDF2B6-CE57-450A-A26C-0B3C8848A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F8A3A3-5D94-42A6-8E1E-6C156D8D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44026A-9E7B-4A0B-89F2-CA7FEC550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19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437558-8C6D-4D27-9880-44657E1E2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495425"/>
            <a:ext cx="8134350" cy="451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de41037538407b"/>
          <a:stretch xmlns:a="http://schemas.openxmlformats.org/drawingml/2006/main"/>
        </p:blipFill>
        <p:spPr>
          <a:xfrm xmlns:a="http://schemas.openxmlformats.org/drawingml/2006/main">
            <a:off x="628650" y="2029482"/>
            <a:ext cx="8077200" cy="3446736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4BA137-D7EF-4537-8C12-B1B97FDA7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524000"/>
            <a:ext cx="2552700" cy="445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21C3DA-7653-4279-9CA6-5EACE8A3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77165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E316ED-6230-47C4-AE12-DF58D1F2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1962150"/>
            <a:ext cx="2133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Densidades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92078-D417-41AE-A5B8-C4FBF1134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52700"/>
            <a:ext cx="2133600" cy="320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nominal: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1/π · 1/(2π) · 1/(3π)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N: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32 · 16 ·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efectiva: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0.32 · 0.16 · 0.11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98DD8-641F-488E-92C9-F404BD115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244653-B01E-4327-B960-081B863B4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3E391C3-04FB-49CF-B101-E7470327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Fragmentación a baja densidad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86A107-3A7C-49A2-B760-25C4F031F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21597100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D44D91-8F17-4204-9D88-AFBEE3D6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RESULTADOS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50E37E-90F6-43FD-BCD5-15CB74DA1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Las reglas separan las escalas de ruido observadas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080AAF-710B-4265-B718-4BD9987F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26E5B0-5817-45B5-8AA6-F3CD6293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86D3E6-0985-4CD3-B630-1283593D7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7B1416-6DD2-4785-99FA-9151750E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El votante pierde polarización en la región de ruido bajo resuelta finamente; Vicsek conserva orden hasta ruidos mayores.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060697-21AD-4F42-9F0F-9F208C8C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905000"/>
            <a:ext cx="52959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762ac8caf4e38"/>
          <a:stretch xmlns:a="http://schemas.openxmlformats.org/drawingml/2006/main"/>
        </p:blipFill>
        <p:spPr>
          <a:xfrm xmlns:a="http://schemas.openxmlformats.org/drawingml/2006/main">
            <a:off x="628650" y="2616049"/>
            <a:ext cx="5238750" cy="2235501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C0E587-5CE1-4F00-8E02-D21A1ECC9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905000"/>
            <a:ext cx="5295900" cy="3657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bfcb6badc84927"/>
          <a:stretch xmlns:a="http://schemas.openxmlformats.org/drawingml/2006/main"/>
        </p:blipFill>
        <p:spPr>
          <a:xfrm xmlns:a="http://schemas.openxmlformats.org/drawingml/2006/main">
            <a:off x="6191250" y="2616049"/>
            <a:ext cx="5238750" cy="2235501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3FE4CA-3B78-42CD-A4F3-932354FFE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15000"/>
            <a:ext cx="10782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Izquierda: ⟨vₐ⟩ vs. η   ·   Derecha: ⟨S⟩ vs. η   ·   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20376231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98A120-9F5A-47E0-9628-2BF65AEE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CONCLUSIONES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F52602-1B03-43F6-8F96-F70505A5E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Tres conclusiones: ruido, regla y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ED770B-0BC6-4843-8A6D-0C8F85B4B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729AA1-27C4-40D1-AB06-32159D93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CA016E-8DEC-4663-921B-6D4741554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86DF94-BFCF-4216-A489-D116013DB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B630A0-0630-4AE9-8E6E-A7FADB47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165735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A42"/>
                </a:solidFill>
              </a:defRPr>
            </a:pPr>
            <a:r>
              <a:rPr sz="2025" b="0">
                <a:solidFill>
                  <a:srgbClr val="111A42"/>
                </a:solidFill>
              </a:rPr>
              <a:t>El ruido controla el orden colectivo en ambos modelos.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8A7A3D-3808-4328-89D0-E7577FBED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05125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300AD7-A9E2-47D5-8F1B-F71957519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47975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0">
                <a:solidFill>
                  <a:srgbClr val="111A42"/>
                </a:solidFill>
              </a:defRPr>
            </a:pPr>
            <a:r>
              <a:rPr sz="2025" b="0">
                <a:solidFill>
                  <a:srgbClr val="111A42"/>
                </a:solidFill>
              </a:rPr>
              <a:t>La regla de interacción cambia el rango de ruido donde se observa la pérdida de polarización.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F8E404F-FF08-4D48-B0A8-748D7613B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957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4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358F1F-0ECB-47AE-8221-317CE6AE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038600"/>
            <a:ext cx="8953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11A42"/>
                </a:solidFill>
              </a:defRPr>
            </a:pPr>
            <a:r>
              <a:rPr sz="2025" b="1">
                <a:solidFill>
                  <a:srgbClr val="111A42"/>
                </a:solidFill>
              </a:rPr>
              <a:t>Conectividad espacial y alineamiento global no son equivalentes; por eso se estudian con S y vₐ por separado.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644A15-5BA5-47D2-B681-013E17BF9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91150"/>
            <a:ext cx="895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BA03D9-274B-44E5-A7AE-6BDF20255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007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F6578"/>
                </a:solidFill>
              </a:defRPr>
            </a:pPr>
            <a:r>
              <a:rPr sz="1350" b="1">
                <a:solidFill>
                  <a:srgbClr val="5F6578"/>
                </a:solidFill>
              </a:rPr>
              <a:t>Pendientes de cierre: animaciones y benchmark CIM vs. TP1.</a:t>
            </a:r>
          </a:p>
        </p:txBody>
      </p:sp>
    </p:spTree>
    <p:extLst>
      <p:ext uri="{BB962C8B-B14F-4D97-AF65-F5344CB8AC3E}">
        <p14:creationId xmlns:p14="http://schemas.microsoft.com/office/powerpoint/2010/main" val="138290422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111A4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DA57EF-E279-46E9-B0F7-D45092F46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B65786-21F0-4539-9DFE-B10557FAC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FC4EA"/>
                </a:solidFill>
              </a:defRPr>
            </a:pPr>
            <a:r>
              <a:rPr sz="1350" b="1">
                <a:solidFill>
                  <a:srgbClr val="BFC4EA"/>
                </a:solidFill>
              </a:rPr>
              <a:t>RESPALDO PARA PREGUNTAS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6F372F-F92C-4E09-B7A7-D74E9E1E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09850"/>
            <a:ext cx="1000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Apéndice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3A8C42-991D-48F1-8AD8-AD595FBE8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142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3B36B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71F2EF-CF46-4C38-8349-929E57D1A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C9CDEA"/>
                </a:solidFill>
              </a:defRPr>
            </a:pPr>
            <a:r>
              <a:rPr sz="975" b="0">
                <a:solidFill>
                  <a:srgbClr val="C9CDEA"/>
                </a:solidFill>
              </a:rPr>
              <a:t>TP2 · Bandadas off-lattice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73AD6B-01DA-4C92-801F-F3FF80D31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C9CDEA"/>
                </a:solidFill>
              </a:defRPr>
            </a:pPr>
            <a:r>
              <a:rPr sz="975" b="1">
                <a:solidFill>
                  <a:srgbClr val="C9CDEA"/>
                </a:solidFill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2001138513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A76C56-A948-418B-9208-7A580FCF1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7145D2-B331-49E0-A424-92C5D05C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Comparación directa entre orden y conectividad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D33512-D810-443A-AF09-38FD941F6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CD9024-6FDC-4065-80E0-FE730C5B4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07CB25-DE4C-4148-8F96-91FF098A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46E923-0073-448F-949E-B6D158C39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400175"/>
            <a:ext cx="1068705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4504d0158d4228"/>
          <a:stretch xmlns:a="http://schemas.openxmlformats.org/drawingml/2006/main"/>
        </p:blipFill>
        <p:spPr>
          <a:xfrm xmlns:a="http://schemas.openxmlformats.org/drawingml/2006/main">
            <a:off x="781050" y="1475308"/>
            <a:ext cx="10629900" cy="453603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83141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EE7910-DFBF-4299-9685-DA9DCD060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42CAC-44CB-4D43-BE34-31298BC9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vₐ(t)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B61E5C-46A7-4802-A1DC-F6DB506F9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69FC9-BC51-485E-9DFE-E955D1B82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06B2C5-02B1-4D58-8C25-2C560EE0F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1F4E3-BF28-4AB8-89CE-CBDFD4A1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4721D0-37CE-43D9-8A03-D1EE63B57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b7c79f9d14510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1D5D2E-721A-4ADF-8247-7014679F0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87344f5a294cbe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B0C512-2D5B-48A3-8752-2EAD2261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164517480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5D9D05-672E-4334-8305-019D7C040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6C2E3C-B35F-4E52-B1FA-3A899BE8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S(t)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59E32D-7AA1-4053-B276-BDE913EBB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ECD33E-8531-4365-A4DA-5A984478B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495867-8D30-4A45-B57D-7F3A039B8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D0FF3-2547-4C10-8549-B85A91514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CCF2EF-866F-40CE-B705-A144CD02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4a93752af642e0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675133-D2DA-473C-9108-70C4A587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12e6812fb7473d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74C9C1-764E-4ABF-9A76-803A40B78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596481200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AB95A6-819C-4FCA-9AD7-48E9AFCD7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F18722A-4936-4E0F-AE56-F4F742A63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polarización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1ABCB7-F6CA-44C4-9D4E-D13AAFD6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D89C6-F766-4F5C-9086-A1F5FB43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2777B-FEEF-4E57-8C04-3A5CE183C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8353C6-9CC5-417D-BAEE-D8251F02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A3B9F3-FE6F-4199-B833-A4064BEC9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2f5ceaa9f44bc2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6519C9-5B94-42B2-9C89-FADC559A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e8381e33b48c6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C94428-E112-4954-8782-1CCD3F771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35824119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ACC0E-9FD2-460C-833C-2DF2A724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C34F6F-9C7A-4B17-99FE-8F8E088AD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S(t) en ρ = 4 y ρ =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2A7B9D-46D3-4201-9C2A-C9077F565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1019C3-D119-41A6-9428-613FF233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24897-5085-4003-880F-9FAE41294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B8E216-6484-4FEF-837D-2DC1010F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Series restantes por densidad.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E4B20E-20BF-43E7-BF47-228A5D54F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55e2e1bfa74969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DED98-10CE-4C1A-AE80-C5E835C25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02c4364be4484a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B963C4-A605-48BD-911E-7506230EF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t_eq = 1500  ·  Bandas: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89638400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371276-E38A-4034-85C0-3650E5DC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74BCFB-CD77-4F0D-89BA-89A5E405F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Vicsek: clusters en densidades bajas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99BD97-8FCD-41F5-B3E6-21D65E45A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7DB0FE-7DA0-4A29-91BC-29A6CE4E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637E4-671B-4640-9836-F418060F0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975776-D72F-43A2-92F7-31B4729BB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00175"/>
            <a:ext cx="7772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dff8b24ad646a5"/>
          <a:stretch xmlns:a="http://schemas.openxmlformats.org/drawingml/2006/main"/>
        </p:blipFill>
        <p:spPr>
          <a:xfrm xmlns:a="http://schemas.openxmlformats.org/drawingml/2006/main">
            <a:off x="1404938" y="1428750"/>
            <a:ext cx="6429375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C24C96-57D0-4045-B70C-FDC87984F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622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41481B-DD33-499E-9A5C-F1B87FECD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6F67D7-8714-4B8C-B4C6-190D35A5D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Casos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732AC-0842-4F39-A11E-ADD43F05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431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nominal = 1/π, 1/(2π), 1/(3π)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N = 32, 16, 11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efectiva = 0.32, 0.16, 0.11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Barras: desvío estándar</a:t>
            </a:r>
          </a:p>
        </p:txBody>
      </p:sp>
    </p:spTree>
    <p:extLst>
      <p:ext uri="{BB962C8B-B14F-4D97-AF65-F5344CB8AC3E}">
        <p14:creationId xmlns:p14="http://schemas.microsoft.com/office/powerpoint/2010/main" val="1820950936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C1B25-5B93-42F7-9EDE-60E52E521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17BB1D-20B5-4041-A854-5989B5069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Votante: clusters en densidades bajas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29E5C-B521-40FE-9F14-AD9D7EC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EB329E-B152-4F2D-ACDD-025C2E1FC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B33A55-0904-4F17-955E-154F91DE2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29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6DAE53-4EB1-466F-A1AA-513EECD7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1400175"/>
            <a:ext cx="7772400" cy="468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7c428e91748ab"/>
          <a:stretch xmlns:a="http://schemas.openxmlformats.org/drawingml/2006/main"/>
        </p:blipFill>
        <p:spPr>
          <a:xfrm xmlns:a="http://schemas.openxmlformats.org/drawingml/2006/main">
            <a:off x="1404938" y="1428750"/>
            <a:ext cx="6429375" cy="46291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E8EF8-155D-459E-A3CD-340E4FE84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1428750"/>
            <a:ext cx="2762250" cy="462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6FA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A764BAF-C8C4-40FD-AD86-5BAAB8FBF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6764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3B36B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9A120-7EBA-4F07-8421-B45A98AC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866900"/>
            <a:ext cx="2343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11A42"/>
                </a:solidFill>
              </a:defRPr>
            </a:pPr>
            <a:r>
              <a:rPr sz="1800" b="1">
                <a:solidFill>
                  <a:srgbClr val="111A42"/>
                </a:solidFill>
              </a:rPr>
              <a:t>Casos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4AA42-E3D3-4204-8DB0-94DBC125F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57450"/>
            <a:ext cx="2343150" cy="3371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nominal = 1/π, 1/(2π), 1/(3π)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N = 32, 16, 11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ρ efectiva = 0.32, 0.16, 0.11</a:t>
            </a:r>
          </a:p>
          <a:p xmlns:a="http://schemas.openxmlformats.org/drawingml/2006/main">
            <a:pPr algn="l">
              <a:buNone/>
              <a:defRPr sz="1425" b="0">
                <a:solidFill>
                  <a:srgbClr val="5F6578"/>
                </a:solidFill>
              </a:defRPr>
            </a:pPr>
            <a:r>
              <a:rPr sz="1425" b="0">
                <a:solidFill>
                  <a:srgbClr val="5F6578"/>
                </a:solidFill>
              </a:rPr>
              <a:t>Barras: desvío estándar</a:t>
            </a:r>
          </a:p>
        </p:txBody>
      </p:sp>
    </p:spTree>
    <p:extLst>
      <p:ext uri="{BB962C8B-B14F-4D97-AF65-F5344CB8AC3E}">
        <p14:creationId xmlns:p14="http://schemas.microsoft.com/office/powerpoint/2010/main" val="92600802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F0114F-F436-43B6-BBB8-333E12D42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01989A-CDC9-47B0-9382-E30265586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S con η ≤ 0.5: densidades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EAB784-0936-44B7-B67D-A71A4BF5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7CF66-AB5D-4C6F-BC9E-46F33FEED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B89622-7454-4D93-8629-5BD16BFFD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38BADE-0FE7-4EB4-960B-569DE73C4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Mismo intervalo η ≤ 0.5 para ambos modelos.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222ED-A06F-42E3-8FAD-4572016D2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c89ecf48f428a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F4A7BB-AB9A-4161-AB8C-A7550CEFE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152cd58a3d40d3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25478-25BE-460B-AB65-ADDC3735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ρ = 2, 4, 8  ·  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1555217933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24C30-39F9-4759-B04F-EA881A34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403EE-6D20-4F47-9CA3-77221D722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Zoom de S: densidades bajas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8D44C-87CF-4078-95B6-033CC8A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F940A-B60A-4E62-8B21-C1AD6BA64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021A7D-6F1E-4174-89FC-05383BE64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5278B-AA56-4AF5-94AB-15EC334B3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239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B36B8"/>
                </a:solidFill>
              </a:defRPr>
            </a:pPr>
            <a:r>
              <a:rPr sz="1650" b="1">
                <a:solidFill>
                  <a:srgbClr val="3B36B8"/>
                </a:solidFill>
              </a:rPr>
              <a:t>Detalle del tramo fino η ≤ 0.5 en la extensión de clusters.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D3BF5-C18D-4572-9CBD-9AD5F45B2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f4df9099a467f"/>
          <a:stretch xmlns:a="http://schemas.openxmlformats.org/drawingml/2006/main"/>
        </p:blipFill>
        <p:spPr>
          <a:xfrm xmlns:a="http://schemas.openxmlformats.org/drawingml/2006/main">
            <a:off x="6588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AB667-9B7C-4203-A84E-C46BB8153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752600"/>
            <a:ext cx="5276850" cy="3771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85674954564860"/>
          <a:stretch xmlns:a="http://schemas.openxmlformats.org/drawingml/2006/main"/>
        </p:blipFill>
        <p:spPr>
          <a:xfrm xmlns:a="http://schemas.openxmlformats.org/drawingml/2006/main">
            <a:off x="6221413" y="1781175"/>
            <a:ext cx="5159375" cy="3714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954ACD-7023-4312-ACD8-795554E23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76900"/>
            <a:ext cx="1078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5F6578"/>
                </a:solidFill>
              </a:defRPr>
            </a:pPr>
            <a:r>
              <a:rPr sz="1275" b="0">
                <a:solidFill>
                  <a:srgbClr val="5F6578"/>
                </a:solidFill>
              </a:rPr>
              <a:t>N = 32, 16, 11  ·  Barras: desvío estándar, R = 20</a:t>
            </a:r>
          </a:p>
        </p:txBody>
      </p:sp>
    </p:spTree>
    <p:extLst>
      <p:ext uri="{BB962C8B-B14F-4D97-AF65-F5344CB8AC3E}">
        <p14:creationId xmlns:p14="http://schemas.microsoft.com/office/powerpoint/2010/main" val="93770463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9DB5E85-492E-4804-B992-3B70F9951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7434C7-54D7-4448-983D-3B5DFCB9A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Protocolo detallado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C4D94-8AAB-4DCA-9C9B-714FD79B9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0F3C6C-5252-495A-8491-9BA58F067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147B41-C530-4EED-931E-75203E0E3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4EEA5F-380E-4932-AC9E-3E230CDE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Geometría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E0AA7-10C7-4D44-98C2-DA66D080E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4859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L=10 · r_c=1 · Δt=1 · v=0.03 · borde periódico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EF1BCE-61EF-4740-9178-D5979DA9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F0E118-AA12-4D42-A169-8C9035707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431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Matriz base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9EAC72-7A05-4599-8603-AA67F4B1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14312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modelos={Vicsek,votante} · ρ={2,4,8} · N={200,400,800}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CB1B30-60CF-4E14-9B7C-AB78D9969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5747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7B24B-E876-4148-BB81-A86B1CD5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003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Ruido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0A88A-C9FA-4A9C-8C36-AD417CF62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0035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η={0,0.05,0.10,0.15,0.20,0.30,0.40,0.50,1,2,3,4,5,6} rad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7ED2B0-06E5-44F7-ADA8-5734539A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AABB6C-6C82-4E2C-8F84-622E30DA4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5757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Ejecución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63F33-4CFE-4F0E-8EB5-6421D5E4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5757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R=20 · steps=3000 · t_eq=1500 · ventana t=1500…3000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E06652-8F70-4CC3-B600-59228B43D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73785D-AE91-41D1-84CB-991AA067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1480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Agregación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15D169-3EF1-4485-A3F0-B6761EDC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1148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promedio temporal por realización → promedio entre realizaciones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4EFD7D-9F64-409C-A932-EA5D1C25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2915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FB572A-AC30-479D-ADD5-88FC69391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72025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Incertidumbre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DAEB54-2AF0-4F9F-B748-95849163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477202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desvío estándar entre realizaciones; no error estándar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B68F6D-DF07-4073-B481-B9936028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AB35BAA-D54D-4CBC-B325-FD8D26A9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29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3B36B8"/>
                </a:solidFill>
              </a:defRPr>
            </a:pPr>
            <a:r>
              <a:rPr sz="1575" b="1">
                <a:solidFill>
                  <a:srgbClr val="3B36B8"/>
                </a:solidFill>
              </a:rPr>
              <a:t>Densidades bajas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895D4E-CC42-4FC7-B3AF-C12359C3E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542925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161A2C"/>
                </a:solidFill>
              </a:defRPr>
            </a:pPr>
            <a:r>
              <a:rPr sz="1500" b="0">
                <a:solidFill>
                  <a:srgbClr val="161A2C"/>
                </a:solidFill>
              </a:rPr>
              <a:t>ρ nominal={1/π,1/(2π),1/(3π)} · N={32,16,11} · solo clusters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1AEFE2-E97F-40B3-848E-47DAF36D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43600"/>
            <a:ext cx="10553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88496991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37078-D454-4321-91A4-C379FBA2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2385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B36B8"/>
                </a:solidFill>
              </a:defRPr>
            </a:pPr>
            <a:r>
              <a:rPr sz="1125" b="1">
                <a:solidFill>
                  <a:srgbClr val="3B36B8"/>
                </a:solidFill>
              </a:rPr>
              <a:t>APÉNDICE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FF46C9-A610-402D-B9A7-C45BDFA0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9600"/>
            <a:ext cx="109347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11A42"/>
                </a:solidFill>
              </a:defRPr>
            </a:pPr>
            <a:r>
              <a:rPr sz="2625" b="1">
                <a:solidFill>
                  <a:srgbClr val="111A42"/>
                </a:solidFill>
              </a:rPr>
              <a:t>Validaciones del motor: evidencia disponible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02754F-F66B-44B2-999D-F07C004D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10934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BE7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23BA91-7CA6-4982-926F-F3E7F29FB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477000"/>
            <a:ext cx="4000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C8193"/>
                </a:solidFill>
              </a:defRPr>
            </a:pPr>
            <a:r>
              <a:rPr sz="975" b="0">
                <a:solidFill>
                  <a:srgbClr val="7C8193"/>
                </a:solidFill>
              </a:rPr>
              <a:t>TP2 · Bandadas off-lattice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0D94D-16C6-4371-B244-500D71ED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77000"/>
            <a:ext cx="419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975" b="1">
                <a:solidFill>
                  <a:srgbClr val="7C8193"/>
                </a:solidFill>
              </a:defRPr>
            </a:pPr>
            <a:r>
              <a:rPr sz="975" b="1">
                <a:solidFill>
                  <a:srgbClr val="7C8193"/>
                </a:solidFill>
              </a:rPr>
              <a:t>33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531CC2-F729-41CF-A854-503A6DFB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24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8BD188-F6E8-467F-8E97-6533497E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3906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CIM = fuerza bruta en casos controlados.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E7F5ACB-D85C-4485-863A-5AF6BC52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C79B53-A1E1-4684-9BD7-EF614C31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198120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Vecinos medios iniciales compatibles con ρπr_c².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83353B-9B39-4AEB-8632-96B13F58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7051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B769D0-1EAD-4E14-BD42-2E04EDA12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5717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Vicsek y votante satisfacen reglas distintas.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284C21-15F6-4E42-9CEC-8C315F25D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295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970684-B70B-4165-AE90-8837C7BF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6230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Actualización sincrónica y movimiento backward.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EF31F7-0CDF-4BA6-888E-68A98AA44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8862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79BA48-19D4-4817-A452-3BD586AF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7528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vₐ ∈ [0,1] y vale 1 para direcciones idénticas.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28C38E-6F3E-4112-B4AB-64439AB52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4767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B36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E40B31-3060-4427-83BD-52B4B3911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34340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S valida transitividad, periodicidad e IDs no consecutivos.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9CAD21-903C-4B82-A44B-BF1D5D2A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06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7D6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5878C9-A6B2-42A8-950F-5DE5D758B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933950"/>
            <a:ext cx="9667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161A2C"/>
                </a:solidFill>
              </a:defRPr>
            </a:pPr>
            <a:r>
              <a:rPr sz="1650" b="0">
                <a:solidFill>
                  <a:srgbClr val="161A2C"/>
                </a:solidFill>
              </a:rPr>
              <a:t>Reproducibilidad con semillas y salida de texto verificada.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415B7-194D-4E61-BFD0-FC33126BE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buNone/>
              <a:defRPr sz="1500" b="1">
                <a:solidFill>
                  <a:srgbClr val="167D69"/>
                </a:solidFill>
              </a:defRPr>
            </a:pPr>
            <a:r>
              <a:rPr sz="1500" b="1">
                <a:solidFill>
                  <a:srgbClr val="167D69"/>
                </a:solidFill>
              </a:rPr>
              <a:t>Suite automatizada: 11/11 CTest aprobadas</a:t>
            </a:r>
          </a:p>
        </p:txBody>
      </p:sp>
    </p:spTree>
    <p:extLst>
      <p:ext uri="{BB962C8B-B14F-4D97-AF65-F5344CB8AC3E}">
        <p14:creationId xmlns:p14="http://schemas.microsoft.com/office/powerpoint/2010/main" val="105483583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2026-08-31T14:10:39.6130000Z</dcterms:created>
  <dcterms:modified xsi:type="dcterms:W3CDTF">2026-08-31T14:10:39.6130000Z</dcterms:modified>
</coreProperties>
</file>