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24e47db88545b7" /><Relationship Type="http://schemas.openxmlformats.org/officeDocument/2006/relationships/extended-properties" Target="/docProps/app.xml" Id="Ra763e8c672904be3" /><Relationship Type="http://schemas.openxmlformats.org/officeDocument/2006/relationships/officeDocument" Target="/ppt/presentation.xml" Id="R328cd6baa7d2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0d35a546549a2"/>
  </p:sldMasterIdLst>
  <p:notesMasterIdLst>
    <p:notesMasterId xmlns:r="http://schemas.openxmlformats.org/officeDocument/2006/relationships" r:id="Re2da49b38ae94343"/>
  </p:notesMasterIdLst>
  <p:sldIdLst>
    <p:sldId xmlns:r="http://schemas.openxmlformats.org/officeDocument/2006/relationships" id="256" r:id="R47b580b5d0184c5a"/>
    <p:sldId xmlns:r="http://schemas.openxmlformats.org/officeDocument/2006/relationships" id="257" r:id="R152f24c77e7c4a76"/>
    <p:sldId xmlns:r="http://schemas.openxmlformats.org/officeDocument/2006/relationships" id="258" r:id="R5300393335174803"/>
    <p:sldId xmlns:r="http://schemas.openxmlformats.org/officeDocument/2006/relationships" id="259" r:id="R36e5c598b4d04d12"/>
    <p:sldId xmlns:r="http://schemas.openxmlformats.org/officeDocument/2006/relationships" id="260" r:id="R265091ee4f9c49a1"/>
    <p:sldId xmlns:r="http://schemas.openxmlformats.org/officeDocument/2006/relationships" id="261" r:id="R2680be75d71f4cb8"/>
    <p:sldId xmlns:r="http://schemas.openxmlformats.org/officeDocument/2006/relationships" id="262" r:id="R90af8e03fe514dab"/>
    <p:sldId xmlns:r="http://schemas.openxmlformats.org/officeDocument/2006/relationships" id="263" r:id="Rc9dd630f704846fb"/>
    <p:sldId xmlns:r="http://schemas.openxmlformats.org/officeDocument/2006/relationships" id="264" r:id="R0ce265e11a8b46dd"/>
    <p:sldId xmlns:r="http://schemas.openxmlformats.org/officeDocument/2006/relationships" id="265" r:id="Re494136ec5ad4a6b"/>
    <p:sldId xmlns:r="http://schemas.openxmlformats.org/officeDocument/2006/relationships" id="266" r:id="R31d5da2426744ebd"/>
    <p:sldId xmlns:r="http://schemas.openxmlformats.org/officeDocument/2006/relationships" id="267" r:id="R8030e67b1c324bc8"/>
    <p:sldId xmlns:r="http://schemas.openxmlformats.org/officeDocument/2006/relationships" id="268" r:id="R15d83ccfd7e248cc"/>
    <p:sldId xmlns:r="http://schemas.openxmlformats.org/officeDocument/2006/relationships" id="269" r:id="R73da153efc7643f3"/>
    <p:sldId xmlns:r="http://schemas.openxmlformats.org/officeDocument/2006/relationships" id="270" r:id="Rc05db9aa48c44a3c"/>
    <p:sldId xmlns:r="http://schemas.openxmlformats.org/officeDocument/2006/relationships" id="271" r:id="R6dd23225f5374e05"/>
    <p:sldId xmlns:r="http://schemas.openxmlformats.org/officeDocument/2006/relationships" id="272" r:id="R5d207e7f9d6f4be4"/>
    <p:sldId xmlns:r="http://schemas.openxmlformats.org/officeDocument/2006/relationships" id="273" r:id="R8039b2aa16fb4d59"/>
    <p:sldId xmlns:r="http://schemas.openxmlformats.org/officeDocument/2006/relationships" id="274" r:id="R7819a87d44624160"/>
    <p:sldId xmlns:r="http://schemas.openxmlformats.org/officeDocument/2006/relationships" id="275" r:id="R25b82c15d4db4160"/>
    <p:sldId xmlns:r="http://schemas.openxmlformats.org/officeDocument/2006/relationships" id="276" r:id="Rda40e85a82ff4896"/>
    <p:sldId xmlns:r="http://schemas.openxmlformats.org/officeDocument/2006/relationships" id="277" r:id="R043d12c8921b4592"/>
    <p:sldId xmlns:r="http://schemas.openxmlformats.org/officeDocument/2006/relationships" id="278" r:id="R79adff0d39ef4839"/>
    <p:sldId xmlns:r="http://schemas.openxmlformats.org/officeDocument/2006/relationships" id="279" r:id="R0870d9e534af426d"/>
    <p:sldId xmlns:r="http://schemas.openxmlformats.org/officeDocument/2006/relationships" id="280" r:id="R2a23d31342ac4e66"/>
    <p:sldId xmlns:r="http://schemas.openxmlformats.org/officeDocument/2006/relationships" id="281" r:id="Rb40bb22104894cd6"/>
    <p:sldId xmlns:r="http://schemas.openxmlformats.org/officeDocument/2006/relationships" id="282" r:id="R757f77a7fbff4610"/>
    <p:sldId xmlns:r="http://schemas.openxmlformats.org/officeDocument/2006/relationships" id="283" r:id="R3740eb670dc04667"/>
    <p:sldId xmlns:r="http://schemas.openxmlformats.org/officeDocument/2006/relationships" id="284" r:id="R6e75b27dd70145c0"/>
    <p:sldId xmlns:r="http://schemas.openxmlformats.org/officeDocument/2006/relationships" id="285" r:id="R7f22bc9757ff49f3"/>
    <p:sldId xmlns:r="http://schemas.openxmlformats.org/officeDocument/2006/relationships" id="286" r:id="Re3c2ac84438b4806"/>
    <p:sldId xmlns:r="http://schemas.openxmlformats.org/officeDocument/2006/relationships" id="287" r:id="Raf7134e7eae0450a"/>
    <p:sldId xmlns:r="http://schemas.openxmlformats.org/officeDocument/2006/relationships" id="288" r:id="Rc0ef89ea514247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583d4316504440" /><Relationship Type="http://schemas.openxmlformats.org/officeDocument/2006/relationships/slideMaster" Target="/ppt/slideMasters/slideMaster1.xml" Id="Rf900d35a546549a2" /><Relationship Type="http://schemas.openxmlformats.org/officeDocument/2006/relationships/notesMaster" Target="/ppt/notesMasters/notesMaster1.xml" Id="Re2da49b38ae94343" /><Relationship Type="http://schemas.openxmlformats.org/officeDocument/2006/relationships/presProps" Target="/ppt/presProps.xml" Id="R7f643d00deee4668" /><Relationship Type="http://schemas.openxmlformats.org/officeDocument/2006/relationships/tableStyles" Target="/ppt/tableStyles.xml" Id="R22b0df772c8f4613" /><Relationship Type="http://schemas.openxmlformats.org/officeDocument/2006/relationships/slide" Target="/ppt/slides/slide1.xml" Id="R47b580b5d0184c5a" /><Relationship Type="http://schemas.openxmlformats.org/officeDocument/2006/relationships/slide" Target="/ppt/slides/slide2.xml" Id="R152f24c77e7c4a76" /><Relationship Type="http://schemas.openxmlformats.org/officeDocument/2006/relationships/slide" Target="/ppt/slides/slide3.xml" Id="R5300393335174803" /><Relationship Type="http://schemas.openxmlformats.org/officeDocument/2006/relationships/slide" Target="/ppt/slides/slide4.xml" Id="R36e5c598b4d04d12" /><Relationship Type="http://schemas.openxmlformats.org/officeDocument/2006/relationships/slide" Target="/ppt/slides/slide5.xml" Id="R265091ee4f9c49a1" /><Relationship Type="http://schemas.openxmlformats.org/officeDocument/2006/relationships/slide" Target="/ppt/slides/slide6.xml" Id="R2680be75d71f4cb8" /><Relationship Type="http://schemas.openxmlformats.org/officeDocument/2006/relationships/slide" Target="/ppt/slides/slide7.xml" Id="R90af8e03fe514dab" /><Relationship Type="http://schemas.openxmlformats.org/officeDocument/2006/relationships/slide" Target="/ppt/slides/slide8.xml" Id="Rc9dd630f704846fb" /><Relationship Type="http://schemas.openxmlformats.org/officeDocument/2006/relationships/slide" Target="/ppt/slides/slide9.xml" Id="R0ce265e11a8b46dd" /><Relationship Type="http://schemas.openxmlformats.org/officeDocument/2006/relationships/slide" Target="/ppt/slides/slide10.xml" Id="Re494136ec5ad4a6b" /><Relationship Type="http://schemas.openxmlformats.org/officeDocument/2006/relationships/slide" Target="/ppt/slides/slide11.xml" Id="R31d5da2426744ebd" /><Relationship Type="http://schemas.openxmlformats.org/officeDocument/2006/relationships/slide" Target="/ppt/slides/slide12.xml" Id="R8030e67b1c324bc8" /><Relationship Type="http://schemas.openxmlformats.org/officeDocument/2006/relationships/slide" Target="/ppt/slides/slide13.xml" Id="R15d83ccfd7e248cc" /><Relationship Type="http://schemas.openxmlformats.org/officeDocument/2006/relationships/slide" Target="/ppt/slides/slide14.xml" Id="R73da153efc7643f3" /><Relationship Type="http://schemas.openxmlformats.org/officeDocument/2006/relationships/slide" Target="/ppt/slides/slide15.xml" Id="Rc05db9aa48c44a3c" /><Relationship Type="http://schemas.openxmlformats.org/officeDocument/2006/relationships/slide" Target="/ppt/slides/slide16.xml" Id="R6dd23225f5374e05" /><Relationship Type="http://schemas.openxmlformats.org/officeDocument/2006/relationships/slide" Target="/ppt/slides/slide17.xml" Id="R5d207e7f9d6f4be4" /><Relationship Type="http://schemas.openxmlformats.org/officeDocument/2006/relationships/slide" Target="/ppt/slides/slide18.xml" Id="R8039b2aa16fb4d59" /><Relationship Type="http://schemas.openxmlformats.org/officeDocument/2006/relationships/slide" Target="/ppt/slides/slide19.xml" Id="R7819a87d44624160" /><Relationship Type="http://schemas.openxmlformats.org/officeDocument/2006/relationships/slide" Target="/ppt/slides/slide20.xml" Id="R25b82c15d4db4160" /><Relationship Type="http://schemas.openxmlformats.org/officeDocument/2006/relationships/slide" Target="/ppt/slides/slide21.xml" Id="Rda40e85a82ff4896" /><Relationship Type="http://schemas.openxmlformats.org/officeDocument/2006/relationships/slide" Target="/ppt/slides/slide22.xml" Id="R043d12c8921b4592" /><Relationship Type="http://schemas.openxmlformats.org/officeDocument/2006/relationships/slide" Target="/ppt/slides/slide23.xml" Id="R79adff0d39ef4839" /><Relationship Type="http://schemas.openxmlformats.org/officeDocument/2006/relationships/slide" Target="/ppt/slides/slide24.xml" Id="R0870d9e534af426d" /><Relationship Type="http://schemas.openxmlformats.org/officeDocument/2006/relationships/slide" Target="/ppt/slides/slide25.xml" Id="R2a23d31342ac4e66" /><Relationship Type="http://schemas.openxmlformats.org/officeDocument/2006/relationships/slide" Target="/ppt/slides/slide26.xml" Id="Rb40bb22104894cd6" /><Relationship Type="http://schemas.openxmlformats.org/officeDocument/2006/relationships/slide" Target="/ppt/slides/slide27.xml" Id="R757f77a7fbff4610" /><Relationship Type="http://schemas.openxmlformats.org/officeDocument/2006/relationships/slide" Target="/ppt/slides/slide28.xml" Id="R3740eb670dc04667" /><Relationship Type="http://schemas.openxmlformats.org/officeDocument/2006/relationships/slide" Target="/ppt/slides/slide29.xml" Id="R6e75b27dd70145c0" /><Relationship Type="http://schemas.openxmlformats.org/officeDocument/2006/relationships/slide" Target="/ppt/slides/slide30.xml" Id="R7f22bc9757ff49f3" /><Relationship Type="http://schemas.openxmlformats.org/officeDocument/2006/relationships/slide" Target="/ppt/slides/slide31.xml" Id="Re3c2ac84438b4806" /><Relationship Type="http://schemas.openxmlformats.org/officeDocument/2006/relationships/slide" Target="/ppt/slides/slide32.xml" Id="Raf7134e7eae0450a" /><Relationship Type="http://schemas.openxmlformats.org/officeDocument/2006/relationships/slide" Target="/ppt/slides/slide33.xml" Id="Rc0ef89ea5142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84ae65eef740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fa006ded52481b" /><Relationship Type="http://schemas.openxmlformats.org/officeDocument/2006/relationships/notesMaster" Target="/ppt/notesMasters/notesMaster1.xml" Id="Re5978f19d5d244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60dcbf5ff405f" /><Relationship Type="http://schemas.openxmlformats.org/officeDocument/2006/relationships/notesMaster" Target="/ppt/notesMasters/notesMaster1.xml" Id="R23df5a7ca1784a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c3364b7ec74f57" /><Relationship Type="http://schemas.openxmlformats.org/officeDocument/2006/relationships/notesMaster" Target="/ppt/notesMasters/notesMaster1.xml" Id="Ra5b932a75d8a45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b9f366bb9843f2" /><Relationship Type="http://schemas.openxmlformats.org/officeDocument/2006/relationships/notesMaster" Target="/ppt/notesMasters/notesMaster1.xml" Id="R2a208d8d14bb4d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cafdce8590452e" /><Relationship Type="http://schemas.openxmlformats.org/officeDocument/2006/relationships/notesMaster" Target="/ppt/notesMasters/notesMaster1.xml" Id="Rde82bc4e0a8f4b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4b1be4d0a4e6b" /><Relationship Type="http://schemas.openxmlformats.org/officeDocument/2006/relationships/notesMaster" Target="/ppt/notesMasters/notesMaster1.xml" Id="R6c82d425b88a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7e1fddf0147dc" /><Relationship Type="http://schemas.openxmlformats.org/officeDocument/2006/relationships/notesMaster" Target="/ppt/notesMasters/notesMaster1.xml" Id="R942645997b694a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81255b9834dc7" /><Relationship Type="http://schemas.openxmlformats.org/officeDocument/2006/relationships/notesMaster" Target="/ppt/notesMasters/notesMaster1.xml" Id="R5c0161dad0674d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ba0c889c39491a" /><Relationship Type="http://schemas.openxmlformats.org/officeDocument/2006/relationships/notesMaster" Target="/ppt/notesMasters/notesMaster1.xml" Id="Rd1f45ac9458b49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2d0290ad1e4b25" /><Relationship Type="http://schemas.openxmlformats.org/officeDocument/2006/relationships/notesMaster" Target="/ppt/notesMasters/notesMaster1.xml" Id="Rdaa20cf64ad340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edf02d27294df9" /><Relationship Type="http://schemas.openxmlformats.org/officeDocument/2006/relationships/notesMaster" Target="/ppt/notesMasters/notesMaster1.xml" Id="Rc650d3bcc109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49a68c43fe4956" /><Relationship Type="http://schemas.openxmlformats.org/officeDocument/2006/relationships/notesMaster" Target="/ppt/notesMasters/notesMaster1.xml" Id="R4d110856f8e848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8d3754bc974aa0" /><Relationship Type="http://schemas.openxmlformats.org/officeDocument/2006/relationships/notesMaster" Target="/ppt/notesMasters/notesMaster1.xml" Id="Rd176ef022c1047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baa1725f48422b" /><Relationship Type="http://schemas.openxmlformats.org/officeDocument/2006/relationships/notesMaster" Target="/ppt/notesMasters/notesMaster1.xml" Id="R4fb0b27b69614b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e97152d88b4ff3" /><Relationship Type="http://schemas.openxmlformats.org/officeDocument/2006/relationships/notesMaster" Target="/ppt/notesMasters/notesMaster1.xml" Id="Rbd414bc57c7144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13c97b2a734bd7" /><Relationship Type="http://schemas.openxmlformats.org/officeDocument/2006/relationships/notesMaster" Target="/ppt/notesMasters/notesMaster1.xml" Id="R3d8451b1332745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e3026035d14841" /><Relationship Type="http://schemas.openxmlformats.org/officeDocument/2006/relationships/notesMaster" Target="/ppt/notesMasters/notesMaster1.xml" Id="R4b1b8f71151147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45f18a91104ce6" /><Relationship Type="http://schemas.openxmlformats.org/officeDocument/2006/relationships/notesMaster" Target="/ppt/notesMasters/notesMaster1.xml" Id="R236d0962450947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aef3e0d799485e" /><Relationship Type="http://schemas.openxmlformats.org/officeDocument/2006/relationships/notesMaster" Target="/ppt/notesMasters/notesMaster1.xml" Id="Rc98135c3fcc74e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9cfafe75b747ba" /><Relationship Type="http://schemas.openxmlformats.org/officeDocument/2006/relationships/notesMaster" Target="/ppt/notesMasters/notesMaster1.xml" Id="Rfb78bc70de144b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b4362e080046c4" /><Relationship Type="http://schemas.openxmlformats.org/officeDocument/2006/relationships/notesMaster" Target="/ppt/notesMasters/notesMaster1.xml" Id="R0537fad74a5d41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6075f118d1403c" /><Relationship Type="http://schemas.openxmlformats.org/officeDocument/2006/relationships/notesMaster" Target="/ppt/notesMasters/notesMaster1.xml" Id="Racc507cee57d42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e2a62f04f74433" /><Relationship Type="http://schemas.openxmlformats.org/officeDocument/2006/relationships/notesMaster" Target="/ppt/notesMasters/notesMaster1.xml" Id="R4a85d42b928449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1b29e155544ecb" /><Relationship Type="http://schemas.openxmlformats.org/officeDocument/2006/relationships/notesMaster" Target="/ppt/notesMasters/notesMaster1.xml" Id="Rb04859bcb3c749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6c596d545b4350" /><Relationship Type="http://schemas.openxmlformats.org/officeDocument/2006/relationships/notesMaster" Target="/ppt/notesMasters/notesMaster1.xml" Id="R438f1e9d93f74d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9c31598cca4a8d" /><Relationship Type="http://schemas.openxmlformats.org/officeDocument/2006/relationships/notesMaster" Target="/ppt/notesMasters/notesMaster1.xml" Id="R6c5e81fc1ff54e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f6d7bc99ab1415a" /><Relationship Type="http://schemas.openxmlformats.org/officeDocument/2006/relationships/notesMaster" Target="/ppt/notesMasters/notesMaster1.xml" Id="R8d1b1d1d5ff04e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266eaccaeb84daf" /><Relationship Type="http://schemas.openxmlformats.org/officeDocument/2006/relationships/notesMaster" Target="/ppt/notesMasters/notesMaster1.xml" Id="R14019501101f4c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3f0a7b1e154b10" /><Relationship Type="http://schemas.openxmlformats.org/officeDocument/2006/relationships/notesMaster" Target="/ppt/notesMasters/notesMaster1.xml" Id="Rb6657b4193444c3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3c93282776e44fd" /><Relationship Type="http://schemas.openxmlformats.org/officeDocument/2006/relationships/notesMaster" Target="/ppt/notesMasters/notesMaster1.xml" Id="R094b5c8d72464a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9da2b3840c449f" /><Relationship Type="http://schemas.openxmlformats.org/officeDocument/2006/relationships/notesMaster" Target="/ppt/notesMasters/notesMaster1.xml" Id="R8bbd14e5ae324eb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e49a13412e47b7" /><Relationship Type="http://schemas.openxmlformats.org/officeDocument/2006/relationships/notesMaster" Target="/ppt/notesMasters/notesMaster1.xml" Id="Re297b07ad3cf4d4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f26702f2d0041e0" /><Relationship Type="http://schemas.openxmlformats.org/officeDocument/2006/relationships/notesMaster" Target="/ppt/notesMasters/notesMaster1.xml" Id="Rcf3a22fdaeea42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Presentar el tema y a los integrantes; no demorar la portada.</a:t>
            </a:r>
          </a:p>
          <a:p xmlns:a="http://schemas.openxmlformats.org/drawingml/2006/main">
            <a:r>
              <a:t>Duración estimada: 0:15.</a:t>
            </a:r>
          </a:p>
          <a:p xmlns:a="http://schemas.openxmlformats.org/drawingml/2006/main">
            <a:r>
              <a:t>Pendiente administrativo: reemplazar “Grupo / comisión: a completar” antes de entregar.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Plantear la pregunta que organiza toda la exposición.</a:t>
            </a:r>
          </a:p>
          <a:p xmlns:a="http://schemas.openxmlformats.org/drawingml/2006/main">
            <a:r>
              <a:t>Duración estimada: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Aislar la única diferencia entre modelos: promedio colectivo frente a copia individual.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Introducir brevemente la implementación.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que la simulación produce archivos estables y la visualización es un consumidor independiente.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- /Users/francoferrari/Desktop/ITBA/SimuTP2/plan_desarrollo_tp2/09_informe_presentacion_entrega.md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Recorrer el orden exacto del paso y remarcar que las posiciones usan v(t), no v(t+1).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Mostrar solo los controles que justifican vecinos, periodicidad y observables.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- /Users/francoferrari/Desktop/ITBA/SimuTP2/plan_desarrollo_tp2/README.md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Pasar de la implementación al protocolo experimental.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el orden de promediado y la definición de barras; no leer la lista completa de η.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Definir vₐ y S antes de mostrar curvas; señalar que un cluster grande no implica alineamiento global.</a:t>
            </a:r>
          </a:p>
          <a:p xmlns:a="http://schemas.openxmlformats.org/drawingml/2006/main">
            <a:r>
              <a:t>Duración estimada: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Abrir la sección de resultados.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Comparar dos estados con polarización media similar alcanzada con ruidos muy distintos.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>Pendiente: incorporar la animación cuando exista. Para el PDF final, conservar fotograma y agregar un link visible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/Users/francoferrari/Desktop/ITBA/SimuTP2/figures/reference_snapshots_v1/README.md</a:t>
            </a:r>
          </a:p>
          <a:p xmlns:a="http://schemas.openxmlformats.org/drawingml/2006/main">
            <a:r>
              <a:t>- /Users/francoferrari/Desktop/ITBA/SimuTP2/figures/reference_snapshots_v1/rho2_model_comparison_snapshot.png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Observación de estas simulaciones, no una ley universal.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/Users/francoferrari/Desktop/ITBA/SimuTP2/figures/final_production_v1/vicsek_va_t_rho_2.png</a:t>
            </a:r>
          </a:p>
          <a:p xmlns:a="http://schemas.openxmlformats.org/drawingml/2006/main">
            <a:r>
              <a:t>- /Users/francoferrari/Desktop/ITBA/SimuTP2/figures/final_production_v1/vicsek_va_vs_eta.png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componente gigante aporta información espacial complementaria.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/Users/francoferrari/Desktop/ITBA/SimuTP2/figures/final_production_v1/vicsek_S_t_rho_2.png</a:t>
            </a:r>
          </a:p>
          <a:p xmlns:a="http://schemas.openxmlformats.org/drawingml/2006/main">
            <a:r>
              <a:t>- /Users/francoferrari/Desktop/ITBA/SimuTP2/figures/final_production_v1/vicsek_S_vs_eta.png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Mostrar que la relación entre alineamiento y conectividad cambia a lo largo del barrido.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zona η ≤ 0.5 resuelve la caída observada.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/Users/francoferrari/Desktop/ITBA/SimuTP2/figures/final_production_v1/voter_va_t_rho_2.png</a:t>
            </a:r>
          </a:p>
          <a:p xmlns:a="http://schemas.openxmlformats.org/drawingml/2006/main">
            <a:r>
              <a:t>- /Users/francoferrari/Desktop/ITBA/SimuTP2/figures/final_production_v1/voter_va_vs_eta_zoom_0_0p5.png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comparación conserva geometría, tiempos y estadística.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/Users/francoferrari/Desktop/ITBA/SimuTP2/figures/final_production_v1/voter_S_t_rho_2.png</a:t>
            </a:r>
          </a:p>
          <a:p xmlns:a="http://schemas.openxmlformats.org/drawingml/2006/main">
            <a:r>
              <a:t>- /Users/francoferrari/Desktop/ITBA/SimuTP2/figures/final_production_v1/voter_S_vs_eta.png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Atribuir la diferencia observada a la regla local, porque los demás parámetros se mantuvieron iguales.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por qué se reportan densidad nominal, N entero y densidad efectiva.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- /Users/francoferrari/Desktop/ITBA/SimuTP2/figures/final_production_v1/comparison_S_vs_eta_lowrho.png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Cerrar la evidencia comparativa con una formulación prudente y limitada a estos datos.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/Users/francoferrari/Desktop/ITBA/SimuTP2/figures/final_production_v1/comparison_va_vs_eta.png</a:t>
            </a:r>
          </a:p>
          <a:p xmlns:a="http://schemas.openxmlformats.org/drawingml/2006/main">
            <a:r>
              <a:t>- /Users/francoferrari/Desktop/ITBA/SimuTP2/figures/final_production_v1/comparison_S_vs_eta_base.png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Resolver la pregunta inicial con tres conclusiones y declarar con honestidad qué falta para la entrega final.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/Users/francoferrari/Desktop/ITBA/SimuTP2/plan_desarrollo_tp2/09_informe_presentacion_entrega.md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No exponer salvo preguntas; separa claramente el respaldo del relato principal.</a:t>
            </a:r>
          </a:p>
          <a:p xmlns:a="http://schemas.openxmlformats.org/drawingml/2006/main">
            <a:r>
              <a:t>Duración estimada: 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Usar solo si preguntan por la comparación punto a punto entre modelos.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/Users/francoferrari/Desktop/ITBA/SimuTP2/figures/final_production_v1/comparison_va_vs_S.png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/Users/francoferrari/Desktop/ITBA/SimuTP2/figures/final_production_v1/vicsek_va_t_rho_4.png</a:t>
            </a:r>
          </a:p>
          <a:p xmlns:a="http://schemas.openxmlformats.org/drawingml/2006/main">
            <a:r>
              <a:t>- /Users/francoferrari/Desktop/ITBA/SimuTP2/figures/final_production_v1/vicsek_va_t_rho_8.png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/Users/francoferrari/Desktop/ITBA/SimuTP2/figures/final_production_v1/vicsek_S_t_rho_4.png</a:t>
            </a:r>
          </a:p>
          <a:p xmlns:a="http://schemas.openxmlformats.org/drawingml/2006/main">
            <a:r>
              <a:t>- /Users/francoferrari/Desktop/ITBA/SimuTP2/figures/final_production_v1/vicsek_S_t_rho_8.png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/Users/francoferrari/Desktop/ITBA/SimuTP2/figures/final_production_v1/voter_va_t_rho_4.png</a:t>
            </a:r>
          </a:p>
          <a:p xmlns:a="http://schemas.openxmlformats.org/drawingml/2006/main">
            <a:r>
              <a:t>- /Users/francoferrari/Desktop/ITBA/SimuTP2/figures/final_production_v1/voter_va_t_rho_8.png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/Users/francoferrari/Desktop/ITBA/SimuTP2/figures/final_production_v1/voter_S_t_rho_4.png</a:t>
            </a:r>
          </a:p>
          <a:p xmlns:a="http://schemas.openxmlformats.org/drawingml/2006/main">
            <a:r>
              <a:t>- /Users/francoferrari/Desktop/ITBA/SimuTP2/figures/final_production_v1/voter_S_t_rho_8.png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individual de Vicsek en densidades bajas.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individual del votante en densidades bajas.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Mismo intervalo η ≤ 0.5 para ambos modelos.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/Users/francoferrari/Desktop/ITBA/SimuTP2/figures/final_production_v1/vicsek_S_vs_eta_zoom_0_0p5.png</a:t>
            </a:r>
          </a:p>
          <a:p xmlns:a="http://schemas.openxmlformats.org/drawingml/2006/main">
            <a:r>
              <a:t>- /Users/francoferrari/Desktop/ITBA/SimuTP2/figures/final_production_v1/voter_S_vs_eta_zoom_0_0p5.png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del tramo fino η ≤ 0.5 en la extensión de clusters.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/Users/francoferrari/Desktop/ITBA/SimuTP2/figures/final_production_v1/vicsek_S_vs_eta_lowrho_zoom_0_0p5.png</a:t>
            </a:r>
          </a:p>
          <a:p xmlns:a="http://schemas.openxmlformats.org/drawingml/2006/main">
            <a:r>
              <a:t>- /Users/francoferrari/Desktop/ITBA/SimuTP2/figures/final_production_v1/voter_S_vs_eta_lowrho_zoom_0_0p5.png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Responder preguntas de reproducibilidad y método estadístico.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Usar como respaldo metodológico; no afirmar cierre de la regresión física de consenso si preguntan por ella.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- /Users/francoferrari/Desktop/ITBA/SimuTP2/plan_desarrollo_tp2/README.md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e462485fd42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eb4344a43a4f2d" /><Relationship Type="http://schemas.openxmlformats.org/officeDocument/2006/relationships/slideLayout" Target="/ppt/slideLayouts/slideLayout1.xml" Id="Ra2ef6e5dabbb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f6e5dabbb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e67556e3d4417" /><Relationship Type="http://schemas.openxmlformats.org/officeDocument/2006/relationships/notesSlide" Target="/ppt/notesSlides/notesSlide1.xml" Id="R4ded4173f755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b5d877c604fc5" /><Relationship Type="http://schemas.openxmlformats.org/officeDocument/2006/relationships/notesSlide" Target="/ppt/notesSlides/notesSlide2.xml" Id="R5df455dd78194d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4af9fd63148a4" /><Relationship Type="http://schemas.openxmlformats.org/officeDocument/2006/relationships/notesSlide" Target="/ppt/notesSlides/notesSlide3.xml" Id="R93168f2662a1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07d4870274a79" /><Relationship Type="http://schemas.openxmlformats.org/officeDocument/2006/relationships/notesSlide" Target="/ppt/notesSlides/notesSlide4.xml" Id="R71302d82ce2d4b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685891ae44549" /><Relationship Type="http://schemas.openxmlformats.org/officeDocument/2006/relationships/notesSlide" Target="/ppt/notesSlides/notesSlide5.xml" Id="Rf92dc540fc0f45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e6ce8268944fa" /><Relationship Type="http://schemas.openxmlformats.org/officeDocument/2006/relationships/notesSlide" Target="/ppt/notesSlides/notesSlide6.xml" Id="R0f181ad4c18b47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76277cca24f86" /><Relationship Type="http://schemas.openxmlformats.org/officeDocument/2006/relationships/notesSlide" Target="/ppt/notesSlides/notesSlide7.xml" Id="R92dc927414ad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1a191624c4bc5" /><Relationship Type="http://schemas.openxmlformats.org/officeDocument/2006/relationships/notesSlide" Target="/ppt/notesSlides/notesSlide8.xml" Id="R6aa07c0ebf2042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16ca2dc424e52" /><Relationship Type="http://schemas.openxmlformats.org/officeDocument/2006/relationships/notesSlide" Target="/ppt/notesSlides/notesSlide9.xml" Id="R1f31e7b72fe345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8cd96fae04978" /><Relationship Type="http://schemas.openxmlformats.org/officeDocument/2006/relationships/notesSlide" Target="/ppt/notesSlides/notesSlide10.xml" Id="R14c1b456adf24b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40a10110d48b2" /><Relationship Type="http://schemas.openxmlformats.org/officeDocument/2006/relationships/notesSlide" Target="/ppt/notesSlides/notesSlide11.xml" Id="R4e1bb9af7d4a49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758f0610e4f31" /><Relationship Type="http://schemas.openxmlformats.org/officeDocument/2006/relationships/image" Target="/ppt/media/image.png" Id="R5edd40fcf00d439b" /><Relationship Type="http://schemas.openxmlformats.org/officeDocument/2006/relationships/notesSlide" Target="/ppt/notesSlides/notesSlide12.xml" Id="R0c91d1cf18f442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af0c957e435a" /><Relationship Type="http://schemas.openxmlformats.org/officeDocument/2006/relationships/image" Target="/ppt/media/image2.png" Id="Rea18490d767d498b" /><Relationship Type="http://schemas.openxmlformats.org/officeDocument/2006/relationships/image" Target="/ppt/media/image3.png" Id="R13aec7f076b34f08" /><Relationship Type="http://schemas.openxmlformats.org/officeDocument/2006/relationships/notesSlide" Target="/ppt/notesSlides/notesSlide13.xml" Id="Rf7c6a588b10d48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c6bd74b364c18" /><Relationship Type="http://schemas.openxmlformats.org/officeDocument/2006/relationships/image" Target="/ppt/media/image4.png" Id="Rc409305a6e8a4c1e" /><Relationship Type="http://schemas.openxmlformats.org/officeDocument/2006/relationships/image" Target="/ppt/media/image5.png" Id="Rb03ac4863db3459c" /><Relationship Type="http://schemas.openxmlformats.org/officeDocument/2006/relationships/notesSlide" Target="/ppt/notesSlides/notesSlide14.xml" Id="R579e90dd52aa4d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3edadb244103" /><Relationship Type="http://schemas.openxmlformats.org/officeDocument/2006/relationships/image" Target="/ppt/media/image6.png" Id="R68debf4f19c64c64" /><Relationship Type="http://schemas.openxmlformats.org/officeDocument/2006/relationships/notesSlide" Target="/ppt/notesSlides/notesSlide15.xml" Id="Rd878c238a0ff4f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78f45a8d4113" /><Relationship Type="http://schemas.openxmlformats.org/officeDocument/2006/relationships/image" Target="/ppt/media/image7.png" Id="Rd844ac71ab6e49c9" /><Relationship Type="http://schemas.openxmlformats.org/officeDocument/2006/relationships/image" Target="/ppt/media/image8.png" Id="Rdcdd68906c71461b" /><Relationship Type="http://schemas.openxmlformats.org/officeDocument/2006/relationships/notesSlide" Target="/ppt/notesSlides/notesSlide16.xml" Id="Re84a8e1006ba46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b043af70f4d35" /><Relationship Type="http://schemas.openxmlformats.org/officeDocument/2006/relationships/image" Target="/ppt/media/image9.png" Id="R563243dac4c24760" /><Relationship Type="http://schemas.openxmlformats.org/officeDocument/2006/relationships/image" Target="/ppt/media/image10.png" Id="R593c5aba607f419b" /><Relationship Type="http://schemas.openxmlformats.org/officeDocument/2006/relationships/notesSlide" Target="/ppt/notesSlides/notesSlide17.xml" Id="Ra8c58a935fc447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f75a813704e57" /><Relationship Type="http://schemas.openxmlformats.org/officeDocument/2006/relationships/image" Target="/ppt/media/image11.png" Id="Rd4061a8ac3ff4229" /><Relationship Type="http://schemas.openxmlformats.org/officeDocument/2006/relationships/notesSlide" Target="/ppt/notesSlides/notesSlide18.xml" Id="R7c999ea905cd43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c12967a2f4c41" /><Relationship Type="http://schemas.openxmlformats.org/officeDocument/2006/relationships/image" Target="/ppt/media/image12.png" Id="Re41163f55003487a" /><Relationship Type="http://schemas.openxmlformats.org/officeDocument/2006/relationships/notesSlide" Target="/ppt/notesSlides/notesSlide19.xml" Id="R9d4f4e3242674f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afde3d0524d03" /><Relationship Type="http://schemas.openxmlformats.org/officeDocument/2006/relationships/image" Target="/ppt/media/image13.png" Id="Rb8c3f7b7f0b147ff" /><Relationship Type="http://schemas.openxmlformats.org/officeDocument/2006/relationships/image" Target="/ppt/media/image14.png" Id="R2d4ef6266a1f4d79" /><Relationship Type="http://schemas.openxmlformats.org/officeDocument/2006/relationships/notesSlide" Target="/ppt/notesSlides/notesSlide20.xml" Id="R052b860e0b4441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7b50deda4ffd" /><Relationship Type="http://schemas.openxmlformats.org/officeDocument/2006/relationships/notesSlide" Target="/ppt/notesSlides/notesSlide21.xml" Id="R582b5b83b5a14d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b7433ae54961" /><Relationship Type="http://schemas.openxmlformats.org/officeDocument/2006/relationships/notesSlide" Target="/ppt/notesSlides/notesSlide22.xml" Id="R879003f5236445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b6cc4fd1540d0" /><Relationship Type="http://schemas.openxmlformats.org/officeDocument/2006/relationships/image" Target="/ppt/media/image15.png" Id="R0d46a5ba50d34a53" /><Relationship Type="http://schemas.openxmlformats.org/officeDocument/2006/relationships/notesSlide" Target="/ppt/notesSlides/notesSlide23.xml" Id="Rfe8511ebf22444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457e007174741" /><Relationship Type="http://schemas.openxmlformats.org/officeDocument/2006/relationships/image" Target="/ppt/media/image16.png" Id="Rfc5f543be3d24921" /><Relationship Type="http://schemas.openxmlformats.org/officeDocument/2006/relationships/image" Target="/ppt/media/image17.png" Id="Rc3081e4d4295427f" /><Relationship Type="http://schemas.openxmlformats.org/officeDocument/2006/relationships/notesSlide" Target="/ppt/notesSlides/notesSlide24.xml" Id="Rd8eecc5223b543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90f86754742bb" /><Relationship Type="http://schemas.openxmlformats.org/officeDocument/2006/relationships/image" Target="/ppt/media/image18.png" Id="Rd29e06bf564a4281" /><Relationship Type="http://schemas.openxmlformats.org/officeDocument/2006/relationships/image" Target="/ppt/media/image19.png" Id="Rc2d1f42c2b674255" /><Relationship Type="http://schemas.openxmlformats.org/officeDocument/2006/relationships/notesSlide" Target="/ppt/notesSlides/notesSlide25.xml" Id="R6de2c73db14f4b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f91dc2944378" /><Relationship Type="http://schemas.openxmlformats.org/officeDocument/2006/relationships/image" Target="/ppt/media/image20.png" Id="R0f46a931490c44b6" /><Relationship Type="http://schemas.openxmlformats.org/officeDocument/2006/relationships/image" Target="/ppt/media/image21.png" Id="Rac6a71da7f704429" /><Relationship Type="http://schemas.openxmlformats.org/officeDocument/2006/relationships/notesSlide" Target="/ppt/notesSlides/notesSlide26.xml" Id="Ra60d02d69a0b44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eb4014fa14266" /><Relationship Type="http://schemas.openxmlformats.org/officeDocument/2006/relationships/image" Target="/ppt/media/image22.png" Id="R453bc4848c1a4bfb" /><Relationship Type="http://schemas.openxmlformats.org/officeDocument/2006/relationships/image" Target="/ppt/media/image23.png" Id="R69d49a318c4046ac" /><Relationship Type="http://schemas.openxmlformats.org/officeDocument/2006/relationships/notesSlide" Target="/ppt/notesSlides/notesSlide27.xml" Id="R52db8a3a63cd45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57b99ddc4cf6" /><Relationship Type="http://schemas.openxmlformats.org/officeDocument/2006/relationships/image" Target="/ppt/media/image24.png" Id="Rfe67435bb2f34f55" /><Relationship Type="http://schemas.openxmlformats.org/officeDocument/2006/relationships/notesSlide" Target="/ppt/notesSlides/notesSlide28.xml" Id="R1168e0aab66a4bb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ce83e0b2f4eec" /><Relationship Type="http://schemas.openxmlformats.org/officeDocument/2006/relationships/image" Target="/ppt/media/image25.png" Id="R13a44e76092742b5" /><Relationship Type="http://schemas.openxmlformats.org/officeDocument/2006/relationships/notesSlide" Target="/ppt/notesSlides/notesSlide29.xml" Id="R07afdf35467941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2275846a742aa" /><Relationship Type="http://schemas.openxmlformats.org/officeDocument/2006/relationships/image" Target="/ppt/media/image26.png" Id="Re7c0e4497a4a4072" /><Relationship Type="http://schemas.openxmlformats.org/officeDocument/2006/relationships/image" Target="/ppt/media/image27.png" Id="Ree0f5e0c660746d9" /><Relationship Type="http://schemas.openxmlformats.org/officeDocument/2006/relationships/notesSlide" Target="/ppt/notesSlides/notesSlide30.xml" Id="Rb022b336f3924b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00a687274301" /><Relationship Type="http://schemas.openxmlformats.org/officeDocument/2006/relationships/image" Target="/ppt/media/image28.png" Id="R86e3ce7d94fd49ac" /><Relationship Type="http://schemas.openxmlformats.org/officeDocument/2006/relationships/image" Target="/ppt/media/image29.png" Id="Rff7a48c87b58466e" /><Relationship Type="http://schemas.openxmlformats.org/officeDocument/2006/relationships/notesSlide" Target="/ppt/notesSlides/notesSlide31.xml" Id="R616cabc50e444a7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1491de35e416b" /><Relationship Type="http://schemas.openxmlformats.org/officeDocument/2006/relationships/notesSlide" Target="/ppt/notesSlides/notesSlide32.xml" Id="Rf475927849f54cf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752f5eb1f47fc" /><Relationship Type="http://schemas.openxmlformats.org/officeDocument/2006/relationships/notesSlide" Target="/ppt/notesSlides/notesSlide33.xml" Id="R944089ee92a042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D5F20-4EF7-4B2A-A840-F85AA08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B704F-EA7D-4E58-A69F-BC96E50E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038350" cy="2038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5D7D-690A-4670-B7B9-DBCF69EC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941A-D9F6-434F-9FA7-22AE875F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9DED-F448-45B1-BE70-D87B248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147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1D289-2BDD-44C0-A3A0-3BE95B3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C6E62-A25F-4AAC-B971-93FFD84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3DDC-F071-4B1A-8864-C230324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147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B4BF7-2C55-4237-8817-FEA5CA1D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814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7029-5AAB-4578-9501-D895034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6E8E1-F766-40C0-9C3B-94729B0D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3147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7B01-FAF0-4678-80B0-FCB68E0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36B8"/>
                </a:solidFill>
              </a:defRPr>
            </a:pPr>
            <a:r>
              <a:rPr sz="1275" b="1">
                <a:solidFill>
                  <a:srgbClr val="3B36B8"/>
                </a:solidFill>
              </a:rPr>
              <a:t>SIMULACIÓN DE SISTEMAS · TP2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3BEFA-6E51-4D16-B18C-73E3634E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A42"/>
                </a:solidFill>
              </a:defRPr>
            </a:pPr>
            <a:r>
              <a:rPr sz="3900" b="1">
                <a:solidFill>
                  <a:srgbClr val="111A42"/>
                </a:solidFill>
              </a:rPr>
              <a:t>Simulación de bandadas:</a:t>
            </a:r>
          </a:p>
          <a:p xmlns:a="http://schemas.openxmlformats.org/drawingml/2006/main">
            <a:pPr algn="l">
              <a:defRPr sz="3900" b="1">
                <a:solidFill>
                  <a:srgbClr val="111A42"/>
                </a:solidFill>
              </a:defRPr>
            </a:pPr>
            <a:r>
              <a:rPr sz="3900" b="1">
                <a:solidFill>
                  <a:srgbClr val="111A42"/>
                </a:solidFill>
              </a:rPr>
              <a:t>modelo de Vicsek y modelo de votante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8CF2F-D58D-4F70-B4C2-8082D56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578"/>
                </a:solidFill>
              </a:defRPr>
            </a:pPr>
            <a:r>
              <a:rPr sz="1875" b="0">
                <a:solidFill>
                  <a:srgbClr val="5F6578"/>
                </a:solidFill>
              </a:rPr>
              <a:t>72.25 — Simulación de Sistemas | Trabajo Práctico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5FA18-8CF7-427F-A48C-0774DB53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B3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1A9C5-8ED1-4D48-BD1D-FF97B128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Franco Ferrari — Legajo 63094</a:t>
            </a:r>
          </a:p>
          <a:p xmlns:a="http://schemas.openxmlformats.org/drawingml/2006/main">
            <a:pPr algn="l"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Mateo Pirola — Legajo 62810</a:t>
            </a:r>
          </a:p>
          <a:p xmlns:a="http://schemas.openxmlformats.org/drawingml/2006/main">
            <a:pPr algn="l"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Katia Menshikoff — Legajo 64396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BAFCE-7E80-4DFB-BE2E-3655883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578"/>
                </a:solidFill>
              </a:defRPr>
            </a:pPr>
            <a:r>
              <a:rPr sz="1500" b="1">
                <a:solidFill>
                  <a:srgbClr val="5F6578"/>
                </a:solidFill>
              </a:rPr>
              <a:t>04/09/2026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BB5B7-FFE2-4C08-BFCA-20093C97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36B8"/>
                </a:solidFill>
              </a:defRPr>
            </a:pPr>
            <a:r>
              <a:rPr sz="1200" b="1">
                <a:solidFill>
                  <a:srgbClr val="3B36B8"/>
                </a:solidFill>
              </a:rPr>
              <a:t>Grupo / comisión: a completar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489DA-1A2C-4D0E-8CFD-A4B4452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4FEC4-7B72-4357-B78E-7602B78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5438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57F62-A4ED-4FB0-BED7-6FDD682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A01F-FA27-4DC4-A74A-0C523CD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Reglas locales pueden producir orden colectivo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3B09C-EB6F-4E7A-A241-7E7F23D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7D99-06E4-4364-80F7-6D010B3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763C2-FA38-48C0-ACBF-EC0AF29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30027-6488-41AB-94BF-F021C0F7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1A2C"/>
                </a:solidFill>
              </a:defRPr>
            </a:pPr>
            <a:r>
              <a:rPr sz="1950" b="0">
                <a:solidFill>
                  <a:srgbClr val="161A2C"/>
                </a:solidFill>
              </a:rPr>
              <a:t>Partículas autopropulsadas ajustan su dirección usando información cercana. Sin líder central, la interacción repetida puede organizar el movimiento global.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25F2E-CBF8-4C45-992A-9326D62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EF5D-8340-4138-B58F-4F051FA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19275"/>
            <a:ext cx="7048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3C090-758B-4637-B886-543D158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5CFE8-7C58-4DD0-9E71-D6C98070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64D03-FFB5-411B-8C7D-5AED4F79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7048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58EA3-E01E-4E6B-A2A2-89149B5D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85324-9B5A-4D9F-A7C8-A9B4F555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05275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AD34-E316-4E4A-84EB-950CE3D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13384-8A62-4BC9-AA57-14DB126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A764-138B-45F2-8C39-1E822ECF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B23B1-B79B-494C-B4A6-8AAE9DE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17EA5-DFFC-43F8-8885-3372137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FB4DA-4C49-4196-8175-38DE2C99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A9EE5-AE4D-4006-A3E6-021A896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E346-2D5A-45ED-97F0-2181880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D72B7-3DA7-45DC-8E23-715E70B5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¿Cómo modifican el ruido, la densidad y la regla local el orden y la conectividad?</a:t>
            </a:r>
          </a:p>
        </p:txBody>
      </p:sp>
    </p:spTree>
    <p:extLst>
      <p:ext uri="{BB962C8B-B14F-4D97-AF65-F5344CB8AC3E}">
        <p14:creationId xmlns:p14="http://schemas.microsoft.com/office/powerpoint/2010/main" val="1565360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51E47-8161-4CFC-88F4-9C7206F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B28D-0C1A-4A5E-8607-F8BCF161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Dos reglas de interacción sobre la misma geometría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7BA8F-0357-452B-99ED-65DCBF4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C8982-394C-4F0F-A9D6-4543447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999F-D70C-481F-BC2E-4490E70D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3673C-1E8D-4CFF-9BA4-ABD209C0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C2A9-4A00-4BB8-BACB-98D3331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8A9FE-7872-46A5-872F-2FB4072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5191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B4715-9E1F-4F79-B38F-E088E61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62100"/>
            <a:ext cx="5191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BE6A7-6529-4A15-855A-BC37D9A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A42"/>
                </a:solidFill>
              </a:defRPr>
            </a:pPr>
            <a:r>
              <a:rPr sz="2250" b="1">
                <a:solidFill>
                  <a:srgbClr val="111A42"/>
                </a:solidFill>
              </a:rPr>
              <a:t>Vicsek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2BAF0-F7F8-4C41-B4A5-6D17D0B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19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Promedia vectorialmente todas las direcciones vecinas, incluida la propia partícula.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E653A-2B97-40FC-956B-A9A38A2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A42"/>
                </a:solidFill>
              </a:defRPr>
            </a:pPr>
            <a:r>
              <a:rPr sz="2250" b="1">
                <a:solidFill>
                  <a:srgbClr val="111A42"/>
                </a:solidFill>
              </a:rPr>
              <a:t>Votante ruidoso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D1A5D-C473-47D8-B915-BCCD244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81250"/>
            <a:ext cx="4457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Copia la dirección de otra partícula vecina elegida al azar. Si está aislada, conserva dirección y suma ruido.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2DD36-A430-4D80-B40A-398085AE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0060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ξ ~ U[−η/2, η/2]   ·   η en radianes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1565F-01B1-482E-B914-FA1F9F51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F6578"/>
                </a:solidFill>
              </a:defRPr>
            </a:pPr>
            <a:r>
              <a:rPr sz="1575" b="1">
                <a:solidFill>
                  <a:srgbClr val="5F6578"/>
                </a:solidFill>
              </a:rPr>
              <a:t>Misma caja, radio, velocidad y protocolo</a:t>
            </a:r>
          </a:p>
        </p:txBody>
      </p:sp>
    </p:spTree>
    <p:extLst>
      <p:ext uri="{BB962C8B-B14F-4D97-AF65-F5344CB8AC3E}">
        <p14:creationId xmlns:p14="http://schemas.microsoft.com/office/powerpoint/2010/main" val="1846586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302DE-521A-4581-B099-B849821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3339B-26CF-4778-BCB3-80496E9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SECCIÓN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71DAF-0AD9-41C0-8D4A-A6AB934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C800-20DB-4AFE-B298-25DC9E3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BBBBD-9B0B-479F-8E5E-5F88765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32EB-789A-4969-B955-641998B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5031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57260-2E64-496E-86D6-3D3AA815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1346-4597-4001-A5E6-035ACD6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Los resultados quedan desacoplados del visualizador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DD45-8B95-4351-A1C7-7395D84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64A0F-2775-446F-A49F-5216090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F7854-0B79-4C5B-9208-A36DEB7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09A48-D87D-4861-A805-04A8AD9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2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545BF-1AFD-4DFE-A712-EEAACB2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2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0ECE-1102-4F54-82D5-1E749A5F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82877-E344-4E26-870A-EF23F65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Motor C++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52519-E6C8-48A4-ADF1-FC912EC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simulación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09BA1-B99A-4727-B4D3-852E7CF7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3619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E3F3-3D5A-43AD-B83E-5897E58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098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Salida de texto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7101-7E01-4E03-BA3F-71BC3548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observables.csv  ·  trajectory.csv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AA315-B4C9-4AEB-AB3A-8633F4D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3333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9DF10-C980-402E-9E32-F8FD742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Análisis y visualización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0FEC6-340A-4ED1-930E-B234B57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lectura independiente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40B57-0F54-4A71-801B-18C0472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43425"/>
            <a:ext cx="792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3BBBC-A9F5-4473-B6C1-C8B7B03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El visualizador lee resultados ya producidos: no controla el avance de la simulación.</a:t>
            </a:r>
          </a:p>
        </p:txBody>
      </p:sp>
    </p:spTree>
    <p:extLst>
      <p:ext uri="{BB962C8B-B14F-4D97-AF65-F5344CB8AC3E}">
        <p14:creationId xmlns:p14="http://schemas.microsoft.com/office/powerpoint/2010/main" val="32934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A1C56-054E-4EA4-83F0-2A2CBEC1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3E5EB-191B-49F3-A53E-734DCA8D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Un paso temporal correcto: sincrónico y backward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069E6-3F17-441F-A9ED-D3D3778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B4529-EEC8-456E-B5F8-BD5C3E8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D1E1-6E0B-49CB-BF9C-DBA567C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E4669-1CF6-45C1-BC7D-84CFCB4E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995BA-F571-44E4-A352-2C7357A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1C51F-B99E-490A-99EC-A1A721A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660A4-E304-41B4-A05A-F976BC0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50E37-E298-44C6-9639-52A4A421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41107-AD8B-4E3D-ADDE-DC6572E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1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Vecinos con CIM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y periodicidad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7884E-6424-4866-9B68-2637F8A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651B3-C653-4C1D-9A9D-1BF630E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2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Orientaciones nuevas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desde el estado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3D035-ECFF-4BB1-A22C-79F6CF3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19050">
            <a:solidFill>
              <a:srgbClr val="3B3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9C6BF-C237-4804-8021-885C1BA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3</a:t>
            </a:r>
          </a:p>
          <a:p xmlns:a="http://schemas.openxmlformats.org/drawingml/2006/main">
            <a:pPr algn="ctr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Mover posiciones</a:t>
            </a:r>
          </a:p>
          <a:p xmlns:a="http://schemas.openxmlformats.org/drawingml/2006/main">
            <a:pPr algn="ctr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con v(t)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D9C03-3639-445D-9B10-9B43E70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29E15-C211-425F-AC15-CBBC07D1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4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Replegar borde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periódico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C32A1-D56B-4525-B755-0493898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47E14-149A-42C3-A119-92BD7DB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5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Medir</a:t>
            </a:r>
          </a:p>
          <a:p xmlns:a="http://schemas.openxmlformats.org/drawingml/2006/main">
            <a:pPr algn="ctr"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vₐ y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911AC-ACEC-4B08-ABBB-9A741FDD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815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6B8"/>
                </a:solidFill>
              </a:defRPr>
            </a:pPr>
            <a:r>
              <a:rPr sz="1950" b="1">
                <a:solidFill>
                  <a:srgbClr val="3B36B8"/>
                </a:solidFill>
              </a:rPr>
              <a:t>SINCRÓNICO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D5EE3-F5E8-436A-9BCB-553E3097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815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6B8"/>
                </a:solidFill>
              </a:defRPr>
            </a:pPr>
            <a:r>
              <a:rPr sz="1950" b="1">
                <a:solidFill>
                  <a:srgbClr val="3B36B8"/>
                </a:solidFill>
              </a:rPr>
              <a:t>BACKWARD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D6996-B799-4ED3-86EA-2D0B83BD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578"/>
                </a:solidFill>
              </a:defRPr>
            </a:pPr>
            <a:r>
              <a:rPr sz="1575" b="0">
                <a:solidFill>
                  <a:srgbClr val="5F6578"/>
                </a:solidFill>
              </a:rPr>
              <a:t>Ninguna orientación nueva contamina el cálculo de otra partícula.</a:t>
            </a:r>
          </a:p>
        </p:txBody>
      </p:sp>
    </p:spTree>
    <p:extLst>
      <p:ext uri="{BB962C8B-B14F-4D97-AF65-F5344CB8AC3E}">
        <p14:creationId xmlns:p14="http://schemas.microsoft.com/office/powerpoint/2010/main" val="1310704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9AB5E-B761-458B-BBCC-1CA7FD2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51F68-E5B3-4C76-B02A-4CAD6D2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Las validaciones sostienen la lectura de los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4C9A-DE03-4F61-8F17-8577D56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6A4BE-D35B-4CDD-B366-F0ED6F4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D03C0-D536-48C5-A84D-E8972B8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F4D17-4379-468F-BB62-8F877FC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135A0-AC78-4818-91C4-3591644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Vecindad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529E8-1872-4E44-9AE4-38B7290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430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CIM coincide con fuerza bruta.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4429E-7AF2-4CC9-9658-067D9BA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98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6C11B-9E3D-4015-AAD6-F8457A1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5BCB-8187-4E6D-930D-1A7C9F95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Estadística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585F7-6856-44B6-9365-7A4D353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Otros vecinos ≈ ρ·π·r_c².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4FA0-BE4B-4092-B2E2-1711535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D0BBC-9154-4C59-A53F-05A52C6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35E85-A517-47B9-BAEB-4C6DF745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Observables y clusters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97132-ED6F-4BA7-84EF-593E85B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576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vₐ y S respetan límites, periodicidad y conectividad.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DB3DE-E136-4E25-A986-9D4C548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452AF-1A5F-4C8B-912E-C61B039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D69"/>
                </a:solidFill>
              </a:defRPr>
            </a:pPr>
            <a:r>
              <a:rPr sz="1350" b="1">
                <a:solidFill>
                  <a:srgbClr val="167D69"/>
                </a:solidFill>
              </a:rPr>
              <a:t>11/11 pruebas CTest aprobadas</a:t>
            </a:r>
          </a:p>
        </p:txBody>
      </p:sp>
    </p:spTree>
    <p:extLst>
      <p:ext uri="{BB962C8B-B14F-4D97-AF65-F5344CB8AC3E}">
        <p14:creationId xmlns:p14="http://schemas.microsoft.com/office/powerpoint/2010/main" val="1045962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1793F-FBF7-4637-9117-7A27C015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66489-CF82-4E7E-AC45-6E57FDC7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SECCIÓN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92E8D-FB0A-45FC-80F5-79F3916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Simulaciones y medición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3B8A6-2927-4808-90FD-C34022A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C080A-918A-418B-9E1E-1CD4D8F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9A801-3737-4A4E-8585-85D36C0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8564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8DA4E-C7D2-419F-A634-DD6DC190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205DF-E447-4FCF-9AA8-A205676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Un protocolo común permite comparar reglas y densidades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CDECC-7ECF-478F-B880-5A86EFA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B7CF-2641-4219-B2DC-F28CDA19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D911-74ED-4624-A492-FB784AD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1474-FD4E-4A99-B633-30BD69B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A42"/>
                </a:solidFill>
              </a:defRPr>
            </a:pPr>
            <a:r>
              <a:rPr sz="2175" b="1">
                <a:solidFill>
                  <a:srgbClr val="111A42"/>
                </a:solidFill>
              </a:rPr>
              <a:t>L = 10   ·   r_c = 1   ·   v = 0.03   ·   Δt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E394A-1B0D-4C4E-8AD6-895AC33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A4CB2-7A7B-4AEF-8BF3-5FD2761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414F-AA8A-4C19-B8FE-7067CBE9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ρ = 2, 4, 8</a:t>
            </a:r>
          </a:p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N = 200, 400, 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C106C-D959-4D3E-A97F-0113724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Ruido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DBA71-8075-4AEA-8C91-D92F31A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14 valores de η</a:t>
            </a:r>
          </a:p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0 a 6 rad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B0868-EFEF-4EEF-94F8-9F8A4E7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Muestreo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77624-070A-4F93-85D3-075BF50E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R = 20</a:t>
            </a:r>
          </a:p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3000 pasos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C8225-0C25-44FD-9AEF-802E247C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Estacionario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E8FB1-2048-46F5-8870-E1F47FD8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t_eq = 1500</a:t>
            </a:r>
          </a:p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desvío estándar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549CC-54AC-468B-9AAE-C62C817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02762-F483-41B6-9BCA-003D2F6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48225"/>
            <a:ext cx="883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42"/>
                </a:solidFill>
              </a:defRPr>
            </a:pPr>
            <a:r>
              <a:rPr sz="1650" b="1">
                <a:solidFill>
                  <a:srgbClr val="111A42"/>
                </a:solidFill>
              </a:rPr>
              <a:t>Primero: promedio temporal estacionario por realización    →    Después: promedio entre realizaciones</a:t>
            </a:r>
          </a:p>
        </p:txBody>
      </p:sp>
    </p:spTree>
    <p:extLst>
      <p:ext uri="{BB962C8B-B14F-4D97-AF65-F5344CB8AC3E}">
        <p14:creationId xmlns:p14="http://schemas.microsoft.com/office/powerpoint/2010/main" val="136528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3AEF7-FF1C-4C6B-B747-B62E722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2D32B-96C8-435C-985F-B4B83A8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Medimos orden y conectividad por separado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F41DA-EFE0-40E6-834A-4277AD4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70A9F-309E-4E16-B490-675ACE6B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4CC3D-5B92-436F-BEFD-260EB4D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0B97-6D17-45E0-B26A-141B5418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494B3-0808-4287-A66E-0C376B6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6CB9-4318-43EF-AE39-073642CD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Polarización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766F8-532A-44FD-AE93-3CE68ABE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vₐ(t) = (1 / Nv) · |Σᵢ vᵢ(t)|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8F60A-4C91-4FEA-9FA0-2F974AD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Magnitud de la velocidad media normalizada</a:t>
            </a:r>
          </a:p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0 ≤ vₐ ≤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CA67-7520-4ECC-A235-CB34F0C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Componente gigante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94E6D-E063-49A6-8D34-54106421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S(t) = n_max(t) /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F200F-0613-440F-901E-927053A7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Clusters: componentes conexas geométricas</a:t>
            </a:r>
          </a:p>
          <a:p xmlns:a="http://schemas.openxmlformats.org/drawingml/2006/main">
            <a:pPr algn="ctr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con borde periódico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97DF2-69A3-40CD-B540-BBDE542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F6578"/>
                </a:solidFill>
              </a:defRPr>
            </a:pPr>
            <a:r>
              <a:rPr sz="1650" b="1">
                <a:solidFill>
                  <a:srgbClr val="5F6578"/>
                </a:solidFill>
              </a:rPr>
              <a:t>Medir ambos evita confundir alineamiento global con proximidad espacial.</a:t>
            </a:r>
          </a:p>
        </p:txBody>
      </p:sp>
    </p:spTree>
    <p:extLst>
      <p:ext uri="{BB962C8B-B14F-4D97-AF65-F5344CB8AC3E}">
        <p14:creationId xmlns:p14="http://schemas.microsoft.com/office/powerpoint/2010/main" val="1962380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A3265-823F-4B4C-B50D-84EB9F94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44683-CCE2-436A-A252-585D0C99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SECCIÓN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DCB08-EF11-45D0-89D2-29B5630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Resultados: ruido, orden y conectividad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2BA4D-4872-43DB-921A-E5A281C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FFBD7-EB92-4CEE-8F17-ABFDE3F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C54A-8299-43AF-B073-C4413E0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9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A329-6953-42D6-B904-BEB22B3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53DE8-BDD3-4F55-9289-6893F12E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Estados estacionarios representativos a ρ =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D7097-E3BD-4C01-BD89-D3C99D2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3854-300C-4B67-8F37-BE274E3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62ED9-738D-408C-8339-6BD5330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B9E58-FFB4-47AA-9295-88DE1D8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80962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d40fcf00d439b"/>
          <a:stretch xmlns:a="http://schemas.openxmlformats.org/drawingml/2006/main"/>
        </p:blipFill>
        <p:spPr>
          <a:xfrm xmlns:a="http://schemas.openxmlformats.org/drawingml/2006/main">
            <a:off x="628650" y="1834858"/>
            <a:ext cx="8039100" cy="375978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4AE76-A317-4C1E-A82B-F09C40A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76375"/>
            <a:ext cx="2571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92D62-D7A8-4595-BF6A-2E3486B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280B-12B1-4F6E-98A6-E82EF7D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145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Parámetros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443E5-05D1-4F53-A71C-72622FA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1526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Vicsek: η = 3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Votante: η = 0.4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t = 2000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Color: ángulo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Flecha: dirección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Escala visual ×15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Rapidez física v = 0.03</a:t>
            </a:r>
          </a:p>
        </p:txBody>
      </p:sp>
    </p:spTree>
    <p:extLst>
      <p:ext uri="{BB962C8B-B14F-4D97-AF65-F5344CB8AC3E}">
        <p14:creationId xmlns:p14="http://schemas.microsoft.com/office/powerpoint/2010/main" val="103507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9F4D7-D9E8-4DDE-886C-DE67AD56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505B6-2D42-4B23-94E0-C855954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más densidad sostiene el orden a mayor ruido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880A7-66E3-4431-8F0E-FFE1864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421F0-43BA-4AA0-99E6-6A49573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66E30-0A2A-4508-8D4A-BC8C807B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024C-129D-4CA9-A43E-FAE4B95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Observación de estas simulaciones, no una ley universal.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1765E-68F4-47B1-A260-1A09DCC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8490d767d498b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6ABA-BCA3-4683-B801-A3BE717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ec7f076b34f08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ED2D6-A1C0-4B45-9520-41811D3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587921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6FCBC-6D5D-40E7-AE4D-2BA0077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301B3-CB97-485E-B769-FA13711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conectividad y alineamiento evolucionan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CF6CE-6240-4EE0-9039-94FABC1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74AFA-4667-4F4A-A2A1-05ED03CB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314C1-CBEB-4910-91AB-E067AD2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FF57-5736-4336-A83F-1840B34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componente gigante aporta información espacial complementaria.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C9153-10B0-4B33-8C64-29E992AA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9305a6e8a4c1e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DD612-6F14-4D04-AC7F-14CC5E4D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ac4863db3459c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4255F-7A8A-4339-821E-0626F6D0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20598718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D0B32-1AE2-48ED-87AD-1E8DB4B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E1BC-1033-4861-8ECC-3E6DC54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orden frente a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B1E15-688A-42B5-B177-2FDE36B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131A9-9734-4111-919E-AD76E98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4C5BB-4039-4ACA-A726-8A5297C1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5B384-9162-4577-801C-CE482081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79057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ebf4f19c64c64"/>
          <a:stretch xmlns:a="http://schemas.openxmlformats.org/drawingml/2006/main"/>
        </p:blipFill>
        <p:spPr>
          <a:xfrm xmlns:a="http://schemas.openxmlformats.org/drawingml/2006/main">
            <a:off x="1430867" y="1504950"/>
            <a:ext cx="6244167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13BBC-A19D-4DDC-BA47-3B939EB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62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32667-1906-4FD5-B19D-0B879F51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FF218-F995-4C04-AA62-D84B767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Cómo leerlo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F06E0-8D0A-4450-8F54-C5F47CB5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431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Cada punto: un valor de η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x: ⟨S⟩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y: ⟨vₐ⟩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= 2, 4, 8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426287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CF21E-9C83-4AC5-9E52-40022B3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5CAF-F334-423C-8BDC-C35EDC51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la caída observada ocurre a ruido 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7DE7-2FBC-403B-9837-70B92EA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CCB23-A920-4903-AA98-B832E0C8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F17D8-CE54-46E4-85E9-E47254FA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0A69-C95E-4539-9FA5-376EDCB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zona η ≤ 0.5 resuelve la caída observada.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9B82-F077-4092-BD5D-3510CF4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ac71ab6e49c9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EF9F6-A5EE-49D5-9C68-2281FE5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d68906c71461b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15DEC-20A4-45F4-972F-6013BD6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990798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C0101-1B3A-44C0-B5A3-38B2D9F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76FDD-006B-49F3-8A30-A87B330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F827-9C2D-45CA-AD8E-A5D29C1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43C5-80E2-4514-8F6C-0DC35893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C4081-A60B-4E9C-9EF8-73D968BC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01538-B879-4CF8-ADEF-AB66CE2A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comparación conserva geometría, tiempos y estadística.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92F03-BEEC-4F88-ACAF-DD1F682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243dac4c24760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08B3E-70A3-483A-8E8F-7D79190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c5aba607f419b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D6380-3D2D-46D7-8375-62F3DA7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383483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FD842-497A-4246-A5F9-46CF1E0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D3AA3-1E0B-44AF-87CC-8C19D81A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cambia la relación entre orden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33711-F4C5-4752-A48A-1BD7452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D2C90-F3A5-4A4C-A5D3-84177A6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9210E-8140-484C-BCD3-EBC7F75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28CD-9B39-43D0-87EA-FD66FD2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79057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61a8ac3ff4229"/>
          <a:stretch xmlns:a="http://schemas.openxmlformats.org/drawingml/2006/main"/>
        </p:blipFill>
        <p:spPr>
          <a:xfrm xmlns:a="http://schemas.openxmlformats.org/drawingml/2006/main">
            <a:off x="1430867" y="1504950"/>
            <a:ext cx="6244167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0375E-3C4B-4ABC-80D4-604F68DF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62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66B07-945A-4B40-BBB1-0A42CAD5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B8E66-C888-43A5-A6BD-FF459BE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CC0A-C7A9-4726-B607-F133642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431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Cada punto: un valor de η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x: ⟨S⟩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y: ⟨vₐ⟩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Misma geometría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Mismo protocolo</a:t>
            </a:r>
          </a:p>
        </p:txBody>
      </p:sp>
    </p:spTree>
    <p:extLst>
      <p:ext uri="{BB962C8B-B14F-4D97-AF65-F5344CB8AC3E}">
        <p14:creationId xmlns:p14="http://schemas.microsoft.com/office/powerpoint/2010/main" val="11944253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B5F97-D9BB-45A8-B428-3DC4D5AB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5AE01-9ECF-4F02-A23C-C37171F5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Fragmentación a baja densidad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DF2B6-CE57-450A-A26C-0B3C884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A3A3-5D94-42A6-8E1E-6C156D8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4026A-9E7B-4A0B-89F2-CA7FEC5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7558-8C6D-4D27-9880-44657E1E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95425"/>
            <a:ext cx="81343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163f55003487a"/>
          <a:stretch xmlns:a="http://schemas.openxmlformats.org/drawingml/2006/main"/>
        </p:blipFill>
        <p:spPr>
          <a:xfrm xmlns:a="http://schemas.openxmlformats.org/drawingml/2006/main">
            <a:off x="628650" y="2029482"/>
            <a:ext cx="8077200" cy="344673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BA137-D7EF-4537-8C12-B1B97FD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5527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C3DA-7653-4279-9CA6-5EACE8A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16ED-6230-47C4-AE12-DF58D1F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621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Densidades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92078-D417-41AE-A5B8-C4FBF11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1336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nominal: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1/π · 1/(2π) · 1/(3π)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N: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32 · 16 ·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efectiva: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0.32 · 0.16 · 0.11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98DD8-641F-488E-92C9-F404BD1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44653-B01E-4327-B960-081B863B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391C3-04FB-49CF-B101-E747032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Fragmentación a baja densidad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6A107-3A7C-49A2-B760-25C4F03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971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4D91-8F17-4204-9D88-AFBEE3D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0E37E-90F6-43FD-BCD5-15CB74D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Las reglas separan las escalas de ruido observadas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0AAF-710B-4265-B718-4BD9987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6E5B0-5817-45B5-8AA6-F3CD6293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6D3E6-0985-4CD3-B630-1283593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B1416-6DD2-4785-99FA-9151750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El votante pierde polarización en la región de ruido bajo resuelta finamente; Vicsek conserva orden hasta ruidos mayores.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60697-21AD-4F42-9F0F-9F208C8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05000"/>
            <a:ext cx="5295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3f7b7f0b147ff"/>
          <a:stretch xmlns:a="http://schemas.openxmlformats.org/drawingml/2006/main"/>
        </p:blipFill>
        <p:spPr>
          <a:xfrm xmlns:a="http://schemas.openxmlformats.org/drawingml/2006/main">
            <a:off x="628650" y="2616049"/>
            <a:ext cx="5238750" cy="223550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E587-5CE1-4F00-8E02-D21A1EC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05000"/>
            <a:ext cx="5295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ef6266a1f4d79"/>
          <a:stretch xmlns:a="http://schemas.openxmlformats.org/drawingml/2006/main"/>
        </p:blipFill>
        <p:spPr>
          <a:xfrm xmlns:a="http://schemas.openxmlformats.org/drawingml/2006/main">
            <a:off x="6191250" y="2616049"/>
            <a:ext cx="5238750" cy="223550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FE4CA-3B78-42CD-A4F3-932354FF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Izquierda: ⟨vₐ⟩ vs. η   ·   Derecha: ⟨S⟩ vs. η   · 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2037623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A120-9F5A-47E0-9628-2BF65AE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52602-1B03-43F6-8F96-F70505A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Tres conclusiones: ruido, regla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770B-0BC6-4843-8A6D-0C8F85B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9AA1-27C4-40D1-AB06-32159D9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016E-8DEC-4663-921B-6D474155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DF94-BFCF-4216-A489-D116013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630A0-0630-4AE9-8E6E-A7FADB4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573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A42"/>
                </a:solidFill>
              </a:defRPr>
            </a:pPr>
            <a:r>
              <a:rPr sz="2025" b="0">
                <a:solidFill>
                  <a:srgbClr val="111A42"/>
                </a:solidFill>
              </a:rPr>
              <a:t>El ruido controla el orden colectivo en ambos modelos.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A7A3D-3808-4328-89D0-E7577FB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0AD7-A9E2-47D5-8F1B-F7195751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47975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A42"/>
                </a:solidFill>
              </a:defRPr>
            </a:pPr>
            <a:r>
              <a:rPr sz="2025" b="0">
                <a:solidFill>
                  <a:srgbClr val="111A42"/>
                </a:solidFill>
              </a:rPr>
              <a:t>La regla de interacción cambia el rango de ruido donde se observa la pérdida de polarización.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E404F-FF08-4D48-B0A8-748D761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8F1F-0ECB-47AE-8221-317CE6A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A42"/>
                </a:solidFill>
              </a:defRPr>
            </a:pPr>
            <a:r>
              <a:rPr sz="2025" b="1">
                <a:solidFill>
                  <a:srgbClr val="111A42"/>
                </a:solidFill>
              </a:rPr>
              <a:t>Conectividad espacial y alineamiento global no son equivalentes; por eso se estudian con S y vₐ por separado.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44A15-5BA5-47D2-B681-013E17B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A03D9-274B-44E5-A7AE-6BDF202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578"/>
                </a:solidFill>
              </a:defRPr>
            </a:pPr>
            <a:r>
              <a:rPr sz="1350" b="1">
                <a:solidFill>
                  <a:srgbClr val="5F6578"/>
                </a:solidFill>
              </a:rPr>
              <a:t>Pendientes de cierre: animaciones y benchmark CIM vs. TP1.</a:t>
            </a:r>
          </a:p>
        </p:txBody>
      </p:sp>
    </p:spTree>
    <p:extLst>
      <p:ext uri="{BB962C8B-B14F-4D97-AF65-F5344CB8AC3E}">
        <p14:creationId xmlns:p14="http://schemas.microsoft.com/office/powerpoint/2010/main" val="13829042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A57EF-E279-46E9-B0F7-D45092F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65786-21F0-4539-9DFE-B10557F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RESPALDO PARA PREGUNTAS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F372F-F92C-4E09-B7A7-D74E9E1E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Apéndice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A8C42-991D-48F1-8AD8-AD595FB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1F2EF-CF46-4C38-8349-929E57D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3AD6B-01DA-4C92-801F-F3FF80D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01138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76C56-A948-418B-9208-7A580FC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145D2-B331-49E0-A424-92C5D05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Comparación directa entre orden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33512-D810-443A-AF09-38FD941F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9024-6FDC-4065-80E0-FE730C5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7CB25-DE4C-4148-8F96-91FF098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6E923-0073-448F-949E-B6D158C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00175"/>
            <a:ext cx="106870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6a5ba50d34a53"/>
          <a:stretch xmlns:a="http://schemas.openxmlformats.org/drawingml/2006/main"/>
        </p:blipFill>
        <p:spPr>
          <a:xfrm xmlns:a="http://schemas.openxmlformats.org/drawingml/2006/main">
            <a:off x="781050" y="1475308"/>
            <a:ext cx="10629900" cy="4536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314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E7910-DFBF-4299-9685-DA9DCD06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42CAC-44CB-4D43-BE34-31298BC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vₐ(t)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61E5C-46A7-4802-A1DC-F6DB506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69FC9-BC51-485E-9DFE-E955D1B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6B2C5-02B1-4D58-8C25-2C560EE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1F4E3-BF28-4AB8-89CE-CBDFD4A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721D0-37CE-43D9-8A03-D1EE63B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f543be3d24921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5D2E-721A-4ADF-8247-7014679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81e4d4295427f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C512-2D5B-48A3-8752-2EAD226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6451748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D9D05-672E-4334-8305-019D7C04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2E3C-B35F-4E52-B1FA-3A899BE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S(t)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9E32D-7AA1-4053-B276-BDE913EB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D33E-8531-4365-A4DA-5A984478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5867-8D30-4A45-B57D-7F3A039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D0FF3-2547-4C10-8549-B85A9151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F2EF-866F-40CE-B705-A144CD02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06bf564a4281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75133-D2DA-473C-9108-70C4A58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1f42c2b674255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4C9C1-764E-4ABF-9A76-803A40B7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5964812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B95A6-819C-4FCA-9AD7-48E9AFC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8722A-4936-4E0F-AE56-F4F742A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polarización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BCB7-F6CA-44C4-9D4E-D13AAFD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D89C6-F766-4F5C-9086-A1F5FB43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777B-FEEF-4E57-8C04-3A5CE183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353C6-9CC5-417D-BAEE-D8251F0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3B9F3-FE6F-4199-B833-A4064BE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6a931490c44b6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519C9-5B94-42B2-9C89-FADC559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a71da7f704429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94428-E112-4954-8782-1CCD3F7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3582411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ACC0E-9FD2-460C-833C-2DF2A72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34F6F-9C7A-4B17-99FE-8F8E088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S(t)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7B9D-46D3-4201-9C2A-C9077F56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019C3-D119-41A6-9428-613FF23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4897-5085-4003-880F-9FAE412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8E216-6484-4FEF-837D-2DC1010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4B20E-20BF-43E7-BF47-228A5D5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bc4848c1a4bfb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DED98-10CE-4C1A-AE80-C5E835C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49a318c4046ac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63C4-A605-48BD-911E-7506230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8963840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71276-E38A-4034-85C0-3650E5DC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BCFB-CD77-4F0D-89BA-89A5E40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clusters en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BD97-8FCD-41F5-B3E6-21D65E4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DB0FE-7DA0-4A29-91BC-29A6CE4E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637E4-671B-4640-9836-F418060F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75776-D72F-43A2-92F7-31B4729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0175"/>
            <a:ext cx="7772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7435bb2f34f55"/>
          <a:stretch xmlns:a="http://schemas.openxmlformats.org/drawingml/2006/main"/>
        </p:blipFill>
        <p:spPr>
          <a:xfrm xmlns:a="http://schemas.openxmlformats.org/drawingml/2006/main">
            <a:off x="1404938" y="1428750"/>
            <a:ext cx="6429375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24C96-57D0-4045-B70C-FDC87984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62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1481B-DD33-499E-9A5C-F1B87FE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F67D7-8714-4B8C-B4C6-190D35A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32AC-0842-4F39-A11E-ADD43F0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4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 = 1/π, 1/(2π), 1/(3π)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 = 32, 16, 11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 = 0.32, 0.16, 0.11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18209509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C1B25-5B93-42F7-9EDE-60E52E5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7BB1D-20B5-4041-A854-5989B506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clusters en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9E5C-B521-40FE-9F14-AD9D7EC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B329E-B152-4F2D-ACDD-025C2E1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33A55-0904-4F17-955E-154F91DE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DAE53-4EB1-466F-A1AA-513EECD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0175"/>
            <a:ext cx="7772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44e76092742b5"/>
          <a:stretch xmlns:a="http://schemas.openxmlformats.org/drawingml/2006/main"/>
        </p:blipFill>
        <p:spPr>
          <a:xfrm xmlns:a="http://schemas.openxmlformats.org/drawingml/2006/main">
            <a:off x="1404938" y="1428750"/>
            <a:ext cx="6429375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E8EF8-155D-459E-A3CD-340E4FE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62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4BAF-C8C4-40FD-AD86-5BAAB8FB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9A120-7EBA-4F07-8421-B45A98A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AA42-E3D3-4204-8DB0-94DBC125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4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 = 1/π, 1/(2π), 1/(3π)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 = 32, 16, 11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 = 0.32, 0.16, 0.11</a:t>
            </a:r>
          </a:p>
          <a:p xmlns:a="http://schemas.openxmlformats.org/drawingml/2006/main">
            <a:pPr algn="l"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9260080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0114F-F436-43B6-BBB8-333E12D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1989A-CDC9-47B0-9382-E302655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S con η ≤ 0.5: densidades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AB784-0936-44B7-B67D-A71A4BF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7CF66-AB5D-4C6F-BC9E-46F33FEE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9622-7454-4D93-8629-5BD16BF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8BADE-0FE7-4EB4-960B-569DE73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Mismo intervalo η ≤ 0.5 para ambos modelos.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222ED-A06F-42E3-8FAD-4572016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0e4497a4a4072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4A7BB-AB9A-4161-AB8C-A7550CE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f5e0c660746d9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25478-25BE-460B-AB65-ADDC3735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ρ = 2, 4, 8  ·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5552179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24C30-39F9-4759-B04F-EA881A3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03EE-6D20-4F47-9CA3-77221D7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Zoom de S: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8D44C-87CF-4078-95B6-033CC8A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F940A-B60A-4E62-8B21-C1AD6BA6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21A7D-6F1E-4174-89FC-05383BE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278B-AA56-4AF5-94AB-15EC334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Detalle del tramo fino η ≤ 0.5 en la extensión de clusters.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D3BF5-C18D-4572-9CBD-9AD5F45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3ce7d94fd49ac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AB667-9B7C-4203-A84E-C46BB81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a48c87b58466e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54ACD-7023-4312-ACD8-795554E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N = 32, 16, 11  ·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9377046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B5E85-492E-4804-B992-3B70F99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34C7-54D7-4448-983D-3B5DFCB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Protocolo detallado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C4D94-8AAB-4DCA-9C9B-714FD79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3C6C-5252-495A-8491-9BA58F06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7B41-C530-4EED-931E-75203E0E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EEA5F-380E-4932-AC9E-3E230CD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Geometría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E0AA7-10C7-4D44-98C2-DA66D08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859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L=10 · r_c=1 · Δt=1 · v=0.03 · borde periódico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1BCE-61EF-4740-9178-D5979DA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E118-AA12-4D42-A169-8C90357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Matriz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EAC72-7A05-4599-8603-AA67F4B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431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modelos={Vicsek,votante} · ρ={2,4,8} · N={200,400,800}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B1B30-60CF-4E14-9B7C-AB78D99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7B24B-E876-4148-BB81-A86B1CD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Ruido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0A88A-C9FA-4A9C-8C36-AD417CF6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η={0,0.05,0.10,0.15,0.20,0.30,0.40,0.50,1,2,3,4,5,6} rad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ED2B0-06E5-44F7-ADA8-5734539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BB6C-6C82-4E2C-8F84-622E30D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Ejecución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63F33-4CFE-4F0E-8EB5-6421D5E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R=20 · steps=3000 · t_eq=1500 · ventana t=1500…3000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06652-8F70-4CC3-B600-59228B43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3785D-AE91-41D1-84CB-991AA067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Agregación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5D169-3EF1-4485-A3F0-B6761ED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148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promedio temporal por realización → promedio entre realizaciones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D7D-9F64-409C-A932-EA5D1C25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B572A-AC30-479D-ADD5-88FC6939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Incertidumbre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AEB54-2AF0-4F9F-B748-95849163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720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desvío estándar entre realizaciones; no error estándar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68F6D-DF07-4073-B481-B993602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35BAA-D54D-4CBC-B325-FD8D26A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Densidades bajas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95D4E-CC42-4FC7-B3AF-C12359C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292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ρ nominal={1/π,1/(2π),1/(3π)} · N={32,16,11} · solo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AEFE2-E97F-40B3-848E-47DAF36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49699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37078-D454-4321-91A4-C379FBA2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F46C9-A610-402D-B9A7-C45BDFA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Validaciones del motor: evidencia disponible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754F-F66B-44B2-999D-F07C004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3BA91-7CA6-4982-926F-F3E7F29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0D94D-16C6-4371-B244-500D71E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31CC2-F729-41CF-A854-503A6DF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BD188-F6E8-467F-8E97-6533497E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906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CIM = fuerza bruta en casos controlados.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F5ACB-D85C-4485-863A-5AF6BC5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79B53-A1E1-4684-9BD7-EF614C31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Vecinos medios iniciales compatibles con ρπr_c².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3353B-9B39-4AEB-8632-96B13F5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05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769D0-1EAD-4E14-BD42-2E04EDA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Vicsek y votante satisfacen reglas distintas.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84C21-15F6-4E42-9CEC-8C315F2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5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70684-B70B-4165-AE90-8837C7BF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Actualización sincrónica y movimiento backward.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F31F7-0CDF-4BA6-888E-68A98AA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9BA48-19D4-4817-A452-3BD586AF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vₐ ∈ [0,1] y vale 1 para direcciones idénticas.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8C38E-6F3E-4112-B4AB-64439AB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40B31-3060-4427-83BD-52B4B391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S valida transitividad, periodicidad e IDs no consecutivos.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CAD21-903C-4B82-A44B-BF1D5D2A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878C9-A6B2-42A8-950F-5DE5D758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Reproducibilidad con semillas y salida de texto verificada.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415B7-194D-4E61-BFD0-FC33126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7D69"/>
                </a:solidFill>
              </a:defRPr>
            </a:pPr>
            <a:r>
              <a:rPr sz="1500" b="1">
                <a:solidFill>
                  <a:srgbClr val="167D69"/>
                </a:solidFill>
              </a:rPr>
              <a:t>Suite automatizada: 11/11 CTest aprobadas</a:t>
            </a:r>
          </a:p>
        </p:txBody>
      </p:sp>
    </p:spTree>
    <p:extLst>
      <p:ext uri="{BB962C8B-B14F-4D97-AF65-F5344CB8AC3E}">
        <p14:creationId xmlns:p14="http://schemas.microsoft.com/office/powerpoint/2010/main" val="105483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2026-08-31T00:12:13.3460000Z</dcterms:created>
  <dcterms:modified xsi:type="dcterms:W3CDTF">2026-08-31T00:12:13.3460000Z</dcterms:modified>
</coreProperties>
</file>